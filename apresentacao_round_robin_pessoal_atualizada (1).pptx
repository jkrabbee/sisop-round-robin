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embeddedFontLst>
    <p:embeddedFont>
      <p:font typeface="Quattrocento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QuattrocentoSans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QuattrocentoSans-bold.fntdata"/><Relationship Id="rId6" Type="http://schemas.openxmlformats.org/officeDocument/2006/relationships/slide" Target="slides/slide2.xml"/><Relationship Id="rId18" Type="http://schemas.openxmlformats.org/officeDocument/2006/relationships/font" Target="fonts/QuattrocentoSa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Abrir com o título e os integrantes. Não explicar conteúdo ainda; passar para o roteiro em seguida. Tempo sugerido: 20 segundos.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 que os slides foram montados seguindo a divisão solicitada nas instruções do trabalho. Esta tela organiza o tempo de fala do grupo.</a:t>
            </a:r>
            <a:endParaRPr/>
          </a:p>
        </p:txBody>
      </p:sp>
      <p:sp>
        <p:nvSpPr>
          <p:cNvPr id="20" name="Google Shape;2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Sessão Contexto: explicar objetivo e linguagem usada. Reforçar que é uma simulação didática, não processos reais do SO. Duração aproximada: 2 minutos considerando slide 2 e 3.</a:t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Sessão Algoritmo: apresentar a regra geral do Round Robin com Feedback. Este slide deve ser a explicação conceitual antes de mostrar os parâmetros do código.</a:t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a imagem de configurações do sistema. Falar que as decisões foram deixadas explícitas no topo do código para facilitar correção e apresentação.</a:t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Encerrar a sessão Algoritmo explicando a regra de retorno de I/O. Reforçar a premissa da fila única com tempos paralelos, porque isso pode ser perguntado na apresentação.</a:t>
            </a:r>
            <a:endParaRPr/>
          </a:p>
        </p:txBody>
      </p:sp>
      <p:sp>
        <p:nvSpPr>
          <p:cNvPr id="161" name="Google Shape;16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Sessão Implementação: começar pelo PCB. Explicar que o dicionário é simples, mas contém os campos exigidos pela proposta.</a:t>
            </a:r>
            <a:endParaRPr/>
          </a:p>
        </p:txBody>
      </p:sp>
      <p:sp>
        <p:nvSpPr>
          <p:cNvPr id="196" name="Google Shape;19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que as filas são listas. Explicar que isso facilita acompanhar o estado dos processos no loop principal.</a:t>
            </a:r>
            <a:endParaRPr/>
          </a:p>
        </p:txBody>
      </p:sp>
      <p:sp>
        <p:nvSpPr>
          <p:cNvPr id="216" name="Google Shape;21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 o loop sem entrar em cada linha. O objetivo é mostrar a ordem das decisões: selecionar, atualizar I/O, executar CPU e decidir destino.</a:t>
            </a:r>
            <a:endParaRPr/>
          </a:p>
        </p:txBody>
      </p:sp>
      <p:sp>
        <p:nvSpPr>
          <p:cNvPr id="248" name="Google Shape;24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Sessão Execução: mostrar os comandos, explicar que o Docker é bônus, e que a execução tradicional continua funcionando. Duração aproximada: 3 minutos.</a:t>
            </a:r>
            <a:endParaRPr/>
          </a:p>
        </p:txBody>
      </p:sp>
      <p:sp>
        <p:nvSpPr>
          <p:cNvPr id="281" name="Google Shape;28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Sessão Demonstração: este slide é um roteiro para a fala ao vivo. Usar os logs do terminal para comprovar as regras implementadas.</a:t>
            </a:r>
            <a:endParaRPr/>
          </a:p>
        </p:txBody>
      </p:sp>
      <p:sp>
        <p:nvSpPr>
          <p:cNvPr id="307" name="Google Shape;30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Encerrar explicando o resumo final. Conectar cada métrica ao conceito: espera, turnaround, preempção, bloqueio por I/O e ociosidade da CPU.</a:t>
            </a:r>
            <a:endParaRPr/>
          </a:p>
        </p:txBody>
      </p:sp>
      <p:sp>
        <p:nvSpPr>
          <p:cNvPr id="341" name="Google Shape;34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Fechar com um resumo do que foi demonstrado e abrir para perguntas. Se estiverem com o tempo apertado, este slide pode ser pulado depois do resumo final.</a:t>
            </a:r>
            <a:endParaRPr/>
          </a:p>
        </p:txBody>
      </p:sp>
      <p:sp>
        <p:nvSpPr>
          <p:cNvPr id="362" name="Google Shape;36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orig_render/slide-1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2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x_extract/ppt/media/image1.png" id="22" name="Google Shape;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/>
          <p:nvPr/>
        </p:nvSpPr>
        <p:spPr>
          <a:xfrm>
            <a:off x="310896" y="393192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920"/>
              <a:buFont typeface="Quattrocento Sans"/>
              <a:buNone/>
            </a:pPr>
            <a:r>
              <a:rPr b="0" i="0" lang="en-US" sz="192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Roteiro da apresentação</a:t>
            </a:r>
            <a:endParaRPr b="0" i="0" sz="19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4" name="Google Shape;24;p4"/>
          <p:cNvCxnSpPr/>
          <p:nvPr/>
        </p:nvCxnSpPr>
        <p:spPr>
          <a:xfrm>
            <a:off x="310896" y="832104"/>
            <a:ext cx="10927080" cy="0"/>
          </a:xfrm>
          <a:prstGeom prst="straightConnector1">
            <a:avLst/>
          </a:prstGeom>
          <a:noFill/>
          <a:ln cap="flat" cmpd="sng" w="11425">
            <a:solidFill>
              <a:srgbClr val="1A2B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/>
          <p:nvPr/>
        </p:nvSpPr>
        <p:spPr>
          <a:xfrm>
            <a:off x="329184" y="960120"/>
            <a:ext cx="7680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apresentação foi reorganizada exatamente nas sessões e tempos indicados na proposta.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8321040" y="411480"/>
            <a:ext cx="1828800" cy="274320"/>
          </a:xfrm>
          <a:prstGeom prst="roundRect">
            <a:avLst>
              <a:gd fmla="val 23333" name="adj"/>
            </a:avLst>
          </a:prstGeom>
          <a:solidFill>
            <a:srgbClr val="081525">
              <a:alpha val="96078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8394192" y="475488"/>
            <a:ext cx="16824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670"/>
              <a:buFont typeface="Quattrocento Sans"/>
              <a:buNone/>
            </a:pPr>
            <a:r>
              <a:rPr b="1" i="0" lang="en-US" sz="67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VISÃO GERAL</a:t>
            </a:r>
            <a:endParaRPr b="0" i="0" sz="67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0287000" y="411480"/>
            <a:ext cx="1417320" cy="274320"/>
          </a:xfrm>
          <a:prstGeom prst="roundRect">
            <a:avLst>
              <a:gd fmla="val 23333" name="adj"/>
            </a:avLst>
          </a:prstGeom>
          <a:solidFill>
            <a:srgbClr val="081525">
              <a:alpha val="96078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10360152" y="475488"/>
            <a:ext cx="12710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670"/>
              <a:buFont typeface="Quattrocento Sans"/>
              <a:buNone/>
            </a:pPr>
            <a:r>
              <a:rPr b="1" i="0" lang="en-US" sz="670" u="none" cap="none" strike="noStrike">
                <a:solidFill>
                  <a:srgbClr val="FBBF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 MIN</a:t>
            </a:r>
            <a:endParaRPr b="0" i="0" sz="67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685800" y="1426464"/>
            <a:ext cx="6217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536192" y="1353312"/>
            <a:ext cx="9921240" cy="566928"/>
          </a:xfrm>
          <a:prstGeom prst="roundRect">
            <a:avLst>
              <a:gd fmla="val 8871" name="adj"/>
            </a:avLst>
          </a:prstGeom>
          <a:solidFill>
            <a:srgbClr val="0B1324">
              <a:alpha val="94117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1828800" y="1490472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Quattrocento Sans"/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Contexto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977640" y="1490472"/>
            <a:ext cx="8686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FBBF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 min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120640" y="1490472"/>
            <a:ext cx="56692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820"/>
              <a:buFont typeface="Quattrocento Sans"/>
              <a:buNone/>
            </a:pPr>
            <a:r>
              <a:rPr b="0" i="0" lang="en-US" sz="82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Objetivo do trabalho e linguagem usada.</a:t>
            </a:r>
            <a:endParaRPr b="0" i="0" sz="8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85800" y="2276856"/>
            <a:ext cx="6217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536192" y="2203704"/>
            <a:ext cx="9921240" cy="566928"/>
          </a:xfrm>
          <a:prstGeom prst="roundRect">
            <a:avLst>
              <a:gd fmla="val 8871" name="adj"/>
            </a:avLst>
          </a:prstGeom>
          <a:solidFill>
            <a:srgbClr val="0B1324">
              <a:alpha val="94117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1828800" y="2340864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Quattrocento Sans"/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Algoritmo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977640" y="2340864"/>
            <a:ext cx="8686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FBBF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 min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120640" y="2340864"/>
            <a:ext cx="56692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820"/>
              <a:buFont typeface="Quattrocento Sans"/>
              <a:buNone/>
            </a:pPr>
            <a:r>
              <a:rPr b="0" i="0" lang="en-US" sz="82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Filas, quantum, feedback e I/O.</a:t>
            </a:r>
            <a:endParaRPr b="0" i="0" sz="8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85800" y="3127248"/>
            <a:ext cx="6217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536192" y="3054096"/>
            <a:ext cx="9921240" cy="566928"/>
          </a:xfrm>
          <a:prstGeom prst="roundRect">
            <a:avLst>
              <a:gd fmla="val 8871" name="adj"/>
            </a:avLst>
          </a:prstGeom>
          <a:solidFill>
            <a:srgbClr val="0B1324">
              <a:alpha val="94117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1828800" y="3191256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Quattrocento Sans"/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Implementação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977640" y="3191256"/>
            <a:ext cx="8686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FBBF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 min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120640" y="3191256"/>
            <a:ext cx="56692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820"/>
              <a:buFont typeface="Quattrocento Sans"/>
              <a:buNone/>
            </a:pPr>
            <a:r>
              <a:rPr b="0" i="0" lang="en-US" sz="82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PCB, estruturas de dados e fluxo.</a:t>
            </a:r>
            <a:endParaRPr b="0" i="0" sz="8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85800" y="3977640"/>
            <a:ext cx="6217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36192" y="3904488"/>
            <a:ext cx="9921240" cy="566928"/>
          </a:xfrm>
          <a:prstGeom prst="roundRect">
            <a:avLst>
              <a:gd fmla="val 8871" name="adj"/>
            </a:avLst>
          </a:prstGeom>
          <a:solidFill>
            <a:srgbClr val="0B1324">
              <a:alpha val="94117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828800" y="4041648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Quattrocento Sans"/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Execução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977640" y="4041648"/>
            <a:ext cx="8686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FBBF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 min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120640" y="4041648"/>
            <a:ext cx="56692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820"/>
              <a:buFont typeface="Quattrocento Sans"/>
              <a:buNone/>
            </a:pPr>
            <a:r>
              <a:rPr b="0" i="0" lang="en-US" sz="82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Como o projeto compila/interpreta e executa; Docker bônus.</a:t>
            </a:r>
            <a:endParaRPr b="0" i="0" sz="8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85800" y="4828032"/>
            <a:ext cx="6217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350"/>
              <a:buFont typeface="Quattrocento Sans"/>
              <a:buNone/>
            </a:pPr>
            <a:r>
              <a:rPr b="1" i="0" lang="en-US" sz="135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 b="0" i="0" sz="13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536192" y="4754880"/>
            <a:ext cx="9921240" cy="566928"/>
          </a:xfrm>
          <a:prstGeom prst="roundRect">
            <a:avLst>
              <a:gd fmla="val 8871" name="adj"/>
            </a:avLst>
          </a:prstGeom>
          <a:solidFill>
            <a:srgbClr val="0B1324">
              <a:alpha val="94117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1828800" y="4892040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Quattrocento Sans"/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Demonstração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3977640" y="4892040"/>
            <a:ext cx="8686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FBBF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 min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120640" y="4892040"/>
            <a:ext cx="56692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820"/>
              <a:buFont typeface="Quattrocento Sans"/>
              <a:buNone/>
            </a:pPr>
            <a:r>
              <a:rPr b="0" i="0" lang="en-US" sz="82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Execução real e explicação da saída.</a:t>
            </a:r>
            <a:endParaRPr b="0" i="0" sz="8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536192" y="5742432"/>
            <a:ext cx="9921240" cy="402336"/>
          </a:xfrm>
          <a:prstGeom prst="roundRect">
            <a:avLst>
              <a:gd fmla="val 12500" name="adj"/>
            </a:avLst>
          </a:prstGeom>
          <a:solidFill>
            <a:srgbClr val="081525">
              <a:alpha val="94117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1783080" y="5879592"/>
            <a:ext cx="94183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680"/>
              <a:buFont typeface="Quattrocento Sans"/>
              <a:buNone/>
            </a:pPr>
            <a:r>
              <a:rPr b="0" i="0" lang="en-US" sz="68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Ideia da apresentação: mostrar o projeto real, com as escolhas do grupo e os pontos que a professora pediu para avaliar.</a:t>
            </a:r>
            <a:endParaRPr b="0" i="0" sz="6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57200" y="6437376"/>
            <a:ext cx="11247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2667D"/>
              </a:buClr>
              <a:buSzPts val="610"/>
              <a:buFont typeface="Quattrocento Sans"/>
              <a:buNone/>
            </a:pPr>
            <a:r>
              <a:rPr b="0" i="0" lang="en-US" sz="610" u="none" cap="none" strike="noStrike">
                <a:solidFill>
                  <a:srgbClr val="52667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Sessões oficiais da apresentação: 2 + 5 + 5 + 3 + 5 minutos</a:t>
            </a:r>
            <a:endParaRPr b="0" i="0" sz="6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2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x_extract/ppt/media/image1.png" id="63" name="Google Shape;6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/>
          <p:nvPr/>
        </p:nvSpPr>
        <p:spPr>
          <a:xfrm>
            <a:off x="310896" y="393192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920"/>
              <a:buFont typeface="Quattrocento Sans"/>
              <a:buNone/>
            </a:pPr>
            <a:r>
              <a:rPr b="0" i="0" lang="en-US" sz="192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Contexto: o que nós construímos</a:t>
            </a:r>
            <a:endParaRPr b="0" i="0" sz="19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65" name="Google Shape;65;p5"/>
          <p:cNvCxnSpPr/>
          <p:nvPr/>
        </p:nvCxnSpPr>
        <p:spPr>
          <a:xfrm>
            <a:off x="310896" y="832104"/>
            <a:ext cx="10927080" cy="0"/>
          </a:xfrm>
          <a:prstGeom prst="straightConnector1">
            <a:avLst/>
          </a:prstGeom>
          <a:noFill/>
          <a:ln cap="flat" cmpd="sng" w="11425">
            <a:solidFill>
              <a:srgbClr val="1A2B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5"/>
          <p:cNvSpPr/>
          <p:nvPr/>
        </p:nvSpPr>
        <p:spPr>
          <a:xfrm>
            <a:off x="329184" y="960120"/>
            <a:ext cx="7680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Objetivo e linguagem usada.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8321040" y="411480"/>
            <a:ext cx="1828800" cy="274320"/>
          </a:xfrm>
          <a:prstGeom prst="roundRect">
            <a:avLst>
              <a:gd fmla="val 23333" name="adj"/>
            </a:avLst>
          </a:prstGeom>
          <a:solidFill>
            <a:srgbClr val="081525">
              <a:alpha val="96078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8394192" y="475488"/>
            <a:ext cx="16824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670"/>
              <a:buFont typeface="Quattrocento Sans"/>
              <a:buNone/>
            </a:pPr>
            <a:r>
              <a:rPr b="1" i="0" lang="en-US" sz="67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CONTEXTO</a:t>
            </a:r>
            <a:endParaRPr b="0" i="0" sz="67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0287000" y="411480"/>
            <a:ext cx="1417320" cy="274320"/>
          </a:xfrm>
          <a:prstGeom prst="roundRect">
            <a:avLst>
              <a:gd fmla="val 23333" name="adj"/>
            </a:avLst>
          </a:prstGeom>
          <a:solidFill>
            <a:srgbClr val="081525">
              <a:alpha val="96078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10360152" y="475488"/>
            <a:ext cx="12710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670"/>
              <a:buFont typeface="Quattrocento Sans"/>
              <a:buNone/>
            </a:pPr>
            <a:r>
              <a:rPr b="1" i="0" lang="en-US" sz="670" u="none" cap="none" strike="noStrike">
                <a:solidFill>
                  <a:srgbClr val="FBBF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 MIN</a:t>
            </a:r>
            <a:endParaRPr b="0" i="0" sz="67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85800" y="1389888"/>
            <a:ext cx="5257800" cy="4407408"/>
          </a:xfrm>
          <a:prstGeom prst="roundRect">
            <a:avLst>
              <a:gd fmla="val 1141" name="adj"/>
            </a:avLst>
          </a:prstGeom>
          <a:solidFill>
            <a:srgbClr val="0B1324">
              <a:alpha val="94117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694944" y="1115568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48397"/>
              </a:buClr>
              <a:buSzPts val="680"/>
              <a:buFont typeface="Quattrocento Sans"/>
              <a:buNone/>
            </a:pPr>
            <a:r>
              <a:rPr b="1" i="0" lang="en-US" sz="680" u="none" cap="none" strike="noStrike">
                <a:solidFill>
                  <a:srgbClr val="74839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NOSSO OBJETIVO</a:t>
            </a:r>
            <a:endParaRPr b="0" i="0" sz="6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932688" y="1618488"/>
            <a:ext cx="4709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320"/>
              <a:buFont typeface="Quattrocento Sans"/>
              <a:buNone/>
            </a:pPr>
            <a:r>
              <a:rPr b="1" i="0" lang="en-US" sz="132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Simular decisões de um escalonador de SO</a:t>
            </a:r>
            <a:endParaRPr b="0" i="0" sz="13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932688" y="2130552"/>
            <a:ext cx="4617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EE8"/>
              </a:buClr>
              <a:buSzPts val="830"/>
              <a:buFont typeface="Quattrocento Sans"/>
              <a:buNone/>
            </a:pPr>
            <a:r>
              <a:rPr b="0" i="0" lang="en-US" sz="83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projeto não cria processos reais do sistema operacional. Ele simula processos virtuais e mostra, em uma linha do tempo, como eles passam por CPU, filas de pronto, bloqueio de I/O e finalização.</a:t>
            </a:r>
            <a:endParaRPr b="0" i="0" sz="83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987552" y="3273552"/>
            <a:ext cx="4526280" cy="1481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EE8"/>
              </a:buClr>
              <a:buSzPts val="760"/>
              <a:buFont typeface="Quattrocento Sans"/>
              <a:buNone/>
            </a:pPr>
            <a:r>
              <a:rPr b="0" i="0" lang="en-US" sz="76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implementado em Python 3, sem dependências externas;</a:t>
            </a:r>
            <a:br>
              <a:rPr b="0" i="0" lang="en-US" sz="76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76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foco em legibilidade dos logs para apresentação;</a:t>
            </a:r>
            <a:br>
              <a:rPr b="0" i="0" lang="en-US" sz="76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76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controle por clock lógico, quantum e filas;</a:t>
            </a:r>
            <a:br>
              <a:rPr b="0" i="0" lang="en-US" sz="76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76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entrega com README, relatório e Dockerfile.</a:t>
            </a:r>
            <a:endParaRPr b="0" i="0" sz="76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400800" y="1389888"/>
            <a:ext cx="5074920" cy="4407408"/>
          </a:xfrm>
          <a:prstGeom prst="roundRect">
            <a:avLst>
              <a:gd fmla="val 1141" name="adj"/>
            </a:avLst>
          </a:prstGeom>
          <a:solidFill>
            <a:srgbClr val="0B1324">
              <a:alpha val="94117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6693408" y="1618488"/>
            <a:ext cx="4480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Requisitos que aparecem no projeto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720840" y="2130552"/>
            <a:ext cx="228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860"/>
              <a:buFont typeface="Quattrocento Sans"/>
              <a:buNone/>
            </a:pPr>
            <a:r>
              <a:rPr b="1" i="0" lang="en-US" sz="860" u="none" cap="none" strike="noStrike">
                <a:solidFill>
                  <a:srgbClr val="22C5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 b="0" i="0" sz="86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7059168" y="2130552"/>
            <a:ext cx="3886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EE8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Round Robin com Feedback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6720840" y="2606040"/>
            <a:ext cx="228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860"/>
              <a:buFont typeface="Quattrocento Sans"/>
              <a:buNone/>
            </a:pPr>
            <a:r>
              <a:rPr b="1" i="0" lang="en-US" sz="860" u="none" cap="none" strike="noStrike">
                <a:solidFill>
                  <a:srgbClr val="22C5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 b="0" i="0" sz="86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7059168" y="2606040"/>
            <a:ext cx="3886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EE8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Fila alta, fila baixa e fila de I/O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720840" y="3081528"/>
            <a:ext cx="228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860"/>
              <a:buFont typeface="Quattrocento Sans"/>
              <a:buNone/>
            </a:pPr>
            <a:r>
              <a:rPr b="1" i="0" lang="en-US" sz="860" u="none" cap="none" strike="noStrike">
                <a:solidFill>
                  <a:srgbClr val="22C5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 b="0" i="0" sz="86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7059168" y="3081528"/>
            <a:ext cx="3886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EE8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PCB com PID, PPID, status e prioridade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720840" y="3557016"/>
            <a:ext cx="228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860"/>
              <a:buFont typeface="Quattrocento Sans"/>
              <a:buNone/>
            </a:pPr>
            <a:r>
              <a:rPr b="1" i="0" lang="en-US" sz="860" u="none" cap="none" strike="noStrike">
                <a:solidFill>
                  <a:srgbClr val="22C5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 b="0" i="0" sz="86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7059168" y="3557016"/>
            <a:ext cx="3886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EE8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Disco, fita magnética e impressora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6720840" y="4032504"/>
            <a:ext cx="228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860"/>
              <a:buFont typeface="Quattrocento Sans"/>
              <a:buNone/>
            </a:pPr>
            <a:r>
              <a:rPr b="1" i="0" lang="en-US" sz="860" u="none" cap="none" strike="noStrike">
                <a:solidFill>
                  <a:srgbClr val="22C5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 b="0" i="0" sz="86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7059168" y="4032504"/>
            <a:ext cx="3886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EE8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Preempção, bloqueio e finalização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720840" y="4507992"/>
            <a:ext cx="228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860"/>
              <a:buFont typeface="Quattrocento Sans"/>
              <a:buNone/>
            </a:pPr>
            <a:r>
              <a:rPr b="1" i="0" lang="en-US" sz="860" u="none" cap="none" strike="noStrike">
                <a:solidFill>
                  <a:srgbClr val="22C5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 b="0" i="0" sz="86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7059168" y="4507992"/>
            <a:ext cx="3886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EE8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Logs e métricas finais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720840" y="5230368"/>
            <a:ext cx="4251960" cy="320040"/>
          </a:xfrm>
          <a:prstGeom prst="roundRect">
            <a:avLst>
              <a:gd fmla="val 15714" name="adj"/>
            </a:avLst>
          </a:prstGeom>
          <a:solidFill>
            <a:srgbClr val="081525">
              <a:alpha val="94117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6903720" y="5340096"/>
            <a:ext cx="388620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590"/>
              <a:buFont typeface="Quattrocento Sans"/>
              <a:buNone/>
            </a:pPr>
            <a:r>
              <a:rPr b="0" i="0" lang="en-US" sz="59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Escolha do grupo: manter o simulador simples, rastreável e fácil de demonstrar no terminal.</a:t>
            </a:r>
            <a:endParaRPr b="0" i="0" sz="59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57200" y="6437376"/>
            <a:ext cx="11247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2667D"/>
              </a:buClr>
              <a:buSzPts val="610"/>
              <a:buFont typeface="Quattrocento Sans"/>
              <a:buNone/>
            </a:pPr>
            <a:r>
              <a:rPr b="0" i="0" lang="en-US" sz="610" u="none" cap="none" strike="noStrike">
                <a:solidFill>
                  <a:srgbClr val="52667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github.com/JKrabbee/sisop-round-robin</a:t>
            </a:r>
            <a:endParaRPr b="0" i="0" sz="6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x_extract/ppt/media/image1.png" id="98" name="Google Shape;9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6"/>
          <p:cNvSpPr/>
          <p:nvPr/>
        </p:nvSpPr>
        <p:spPr>
          <a:xfrm>
            <a:off x="310896" y="393192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920"/>
              <a:buFont typeface="Quattrocento Sans"/>
              <a:buNone/>
            </a:pPr>
            <a:r>
              <a:rPr b="0" i="0" lang="en-US" sz="192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Algoritmo: Round Robin com Feedback</a:t>
            </a:r>
            <a:endParaRPr b="0" i="0" sz="19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00" name="Google Shape;100;p6"/>
          <p:cNvCxnSpPr/>
          <p:nvPr/>
        </p:nvCxnSpPr>
        <p:spPr>
          <a:xfrm>
            <a:off x="310896" y="832104"/>
            <a:ext cx="10927080" cy="0"/>
          </a:xfrm>
          <a:prstGeom prst="straightConnector1">
            <a:avLst/>
          </a:prstGeom>
          <a:noFill/>
          <a:ln cap="flat" cmpd="sng" w="11425">
            <a:solidFill>
              <a:srgbClr val="1A2B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6"/>
          <p:cNvSpPr/>
          <p:nvPr/>
        </p:nvSpPr>
        <p:spPr>
          <a:xfrm>
            <a:off x="329184" y="960120"/>
            <a:ext cx="7680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Filas, quantum, feedback e I/O.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8321040" y="411480"/>
            <a:ext cx="1828800" cy="274320"/>
          </a:xfrm>
          <a:prstGeom prst="roundRect">
            <a:avLst>
              <a:gd fmla="val 23333" name="adj"/>
            </a:avLst>
          </a:prstGeom>
          <a:solidFill>
            <a:srgbClr val="081525">
              <a:alpha val="96078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8394192" y="475488"/>
            <a:ext cx="16824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670"/>
              <a:buFont typeface="Quattrocento Sans"/>
              <a:buNone/>
            </a:pPr>
            <a:r>
              <a:rPr b="1" i="0" lang="en-US" sz="67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ALGORITMO</a:t>
            </a:r>
            <a:endParaRPr b="0" i="0" sz="67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10287000" y="411480"/>
            <a:ext cx="1417320" cy="274320"/>
          </a:xfrm>
          <a:prstGeom prst="roundRect">
            <a:avLst>
              <a:gd fmla="val 23333" name="adj"/>
            </a:avLst>
          </a:prstGeom>
          <a:solidFill>
            <a:srgbClr val="081525">
              <a:alpha val="96078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10360152" y="475488"/>
            <a:ext cx="12710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670"/>
              <a:buFont typeface="Quattrocento Sans"/>
              <a:buNone/>
            </a:pPr>
            <a:r>
              <a:rPr b="1" i="0" lang="en-US" sz="670" u="none" cap="none" strike="noStrike">
                <a:solidFill>
                  <a:srgbClr val="FBBF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 MIN</a:t>
            </a:r>
            <a:endParaRPr b="0" i="0" sz="67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731520" y="1325880"/>
            <a:ext cx="10744200" cy="4343400"/>
          </a:xfrm>
          <a:prstGeom prst="roundRect">
            <a:avLst>
              <a:gd fmla="val 1158" name="adj"/>
            </a:avLst>
          </a:prstGeom>
          <a:solidFill>
            <a:srgbClr val="0B1324">
              <a:alpha val="94117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" name="Google Shape;107;p6"/>
          <p:cNvCxnSpPr/>
          <p:nvPr/>
        </p:nvCxnSpPr>
        <p:spPr>
          <a:xfrm>
            <a:off x="1993392" y="2743200"/>
            <a:ext cx="1920240" cy="0"/>
          </a:xfrm>
          <a:prstGeom prst="straightConnector1">
            <a:avLst/>
          </a:prstGeom>
          <a:noFill/>
          <a:ln cap="flat" cmpd="sng" w="13950">
            <a:solidFill>
              <a:srgbClr val="19C7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" name="Google Shape;108;p6"/>
          <p:cNvCxnSpPr/>
          <p:nvPr/>
        </p:nvCxnSpPr>
        <p:spPr>
          <a:xfrm>
            <a:off x="5074920" y="2743200"/>
            <a:ext cx="1920240" cy="0"/>
          </a:xfrm>
          <a:prstGeom prst="straightConnector1">
            <a:avLst/>
          </a:prstGeom>
          <a:noFill/>
          <a:ln cap="flat" cmpd="sng" w="13950">
            <a:solidFill>
              <a:srgbClr val="19C7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9" name="Google Shape;109;p6"/>
          <p:cNvCxnSpPr/>
          <p:nvPr/>
        </p:nvCxnSpPr>
        <p:spPr>
          <a:xfrm>
            <a:off x="8156448" y="2743200"/>
            <a:ext cx="1920240" cy="0"/>
          </a:xfrm>
          <a:prstGeom prst="straightConnector1">
            <a:avLst/>
          </a:prstGeom>
          <a:noFill/>
          <a:ln cap="flat" cmpd="sng" w="13950">
            <a:solidFill>
              <a:srgbClr val="22C55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0" name="Google Shape;110;p6"/>
          <p:cNvCxnSpPr/>
          <p:nvPr/>
        </p:nvCxnSpPr>
        <p:spPr>
          <a:xfrm flipH="1">
            <a:off x="4526280" y="3310128"/>
            <a:ext cx="3017520" cy="1234440"/>
          </a:xfrm>
          <a:prstGeom prst="straightConnector1">
            <a:avLst/>
          </a:prstGeom>
          <a:noFill/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1" name="Google Shape;111;p6"/>
          <p:cNvSpPr/>
          <p:nvPr/>
        </p:nvSpPr>
        <p:spPr>
          <a:xfrm>
            <a:off x="960120" y="2194560"/>
            <a:ext cx="1691640" cy="941832"/>
          </a:xfrm>
          <a:prstGeom prst="roundRect">
            <a:avLst>
              <a:gd fmla="val 5340" name="adj"/>
            </a:avLst>
          </a:prstGeom>
          <a:solidFill>
            <a:srgbClr val="07101F">
              <a:alpha val="94117"/>
            </a:srgbClr>
          </a:solidFill>
          <a:ln cap="flat" cmpd="sng" w="9525">
            <a:solidFill>
              <a:srgbClr val="1D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1097280" y="2450592"/>
            <a:ext cx="14173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A0FF"/>
              </a:buClr>
              <a:buSzPts val="880"/>
              <a:buFont typeface="Quattrocento Sans"/>
              <a:buNone/>
            </a:pPr>
            <a:r>
              <a:rPr b="1" i="0" lang="en-US" sz="880" u="none" cap="none" strike="noStrike">
                <a:solidFill>
                  <a:srgbClr val="5EA0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NOVO</a:t>
            </a:r>
            <a:endParaRPr b="0" i="0" sz="8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1097280" y="2724912"/>
            <a:ext cx="14173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570"/>
              <a:buFont typeface="Quattrocento Sans"/>
              <a:buNone/>
            </a:pPr>
            <a:r>
              <a:rPr b="0" i="0" lang="en-US" sz="57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criado em t=0</a:t>
            </a:r>
            <a:endParaRPr b="0" i="0" sz="57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3913632" y="2194560"/>
            <a:ext cx="1691640" cy="941832"/>
          </a:xfrm>
          <a:prstGeom prst="roundRect">
            <a:avLst>
              <a:gd fmla="val 5340" name="adj"/>
            </a:avLst>
          </a:prstGeom>
          <a:solidFill>
            <a:srgbClr val="07101F">
              <a:alpha val="94117"/>
            </a:srgbClr>
          </a:solidFill>
          <a:ln cap="flat" cmpd="sng" w="9525">
            <a:solidFill>
              <a:srgbClr val="1D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4050792" y="2450592"/>
            <a:ext cx="14173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880"/>
              <a:buFont typeface="Quattrocento Sans"/>
              <a:buNone/>
            </a:pPr>
            <a:r>
              <a:rPr b="1" i="0" lang="en-US" sz="88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FILA ALTA</a:t>
            </a:r>
            <a:endParaRPr b="0" i="0" sz="8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050792" y="2724912"/>
            <a:ext cx="14173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570"/>
              <a:buFont typeface="Quattrocento Sans"/>
              <a:buNone/>
            </a:pPr>
            <a:r>
              <a:rPr b="0" i="0" lang="en-US" sz="57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primeira escolha</a:t>
            </a:r>
            <a:endParaRPr b="0" i="0" sz="57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903720" y="2194560"/>
            <a:ext cx="1691640" cy="941832"/>
          </a:xfrm>
          <a:prstGeom prst="roundRect">
            <a:avLst>
              <a:gd fmla="val 5340" name="adj"/>
            </a:avLst>
          </a:prstGeom>
          <a:solidFill>
            <a:srgbClr val="07101F">
              <a:alpha val="94117"/>
            </a:srgbClr>
          </a:solidFill>
          <a:ln cap="flat" cmpd="sng" w="9525">
            <a:solidFill>
              <a:srgbClr val="1D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7040880" y="2450592"/>
            <a:ext cx="14173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0"/>
              <a:buFont typeface="Quattrocento Sans"/>
              <a:buNone/>
            </a:pPr>
            <a:r>
              <a:rPr b="1" i="0" lang="en-US" sz="88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CPU</a:t>
            </a:r>
            <a:endParaRPr b="0" i="0" sz="8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7040880" y="2724912"/>
            <a:ext cx="14173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570"/>
              <a:buFont typeface="Quattrocento Sans"/>
              <a:buNone/>
            </a:pPr>
            <a:r>
              <a:rPr b="0" i="0" lang="en-US" sz="57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executa até 3u</a:t>
            </a:r>
            <a:endParaRPr b="0" i="0" sz="57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9857232" y="2194560"/>
            <a:ext cx="1691640" cy="941832"/>
          </a:xfrm>
          <a:prstGeom prst="roundRect">
            <a:avLst>
              <a:gd fmla="val 5340" name="adj"/>
            </a:avLst>
          </a:prstGeom>
          <a:solidFill>
            <a:srgbClr val="07101F">
              <a:alpha val="94117"/>
            </a:srgbClr>
          </a:solidFill>
          <a:ln cap="flat" cmpd="sng" w="9525">
            <a:solidFill>
              <a:srgbClr val="1D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9994392" y="2450592"/>
            <a:ext cx="14173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880"/>
              <a:buFont typeface="Quattrocento Sans"/>
              <a:buNone/>
            </a:pPr>
            <a:r>
              <a:rPr b="1" i="0" lang="en-US" sz="880" u="none" cap="none" strike="noStrike">
                <a:solidFill>
                  <a:srgbClr val="22C5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FIM</a:t>
            </a:r>
            <a:endParaRPr b="0" i="0" sz="8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9994392" y="2724912"/>
            <a:ext cx="14173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570"/>
              <a:buFont typeface="Quattrocento Sans"/>
              <a:buNone/>
            </a:pPr>
            <a:r>
              <a:rPr b="0" i="0" lang="en-US" sz="57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tempo restante = 0</a:t>
            </a:r>
            <a:endParaRPr b="0" i="0" sz="57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3913632" y="4343400"/>
            <a:ext cx="1691640" cy="941832"/>
          </a:xfrm>
          <a:prstGeom prst="roundRect">
            <a:avLst>
              <a:gd fmla="val 5340" name="adj"/>
            </a:avLst>
          </a:prstGeom>
          <a:solidFill>
            <a:srgbClr val="07101F">
              <a:alpha val="94117"/>
            </a:srgbClr>
          </a:solidFill>
          <a:ln cap="flat" cmpd="sng" w="9525">
            <a:solidFill>
              <a:srgbClr val="1D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4050792" y="4599432"/>
            <a:ext cx="14173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80"/>
              <a:buFont typeface="Quattrocento Sans"/>
              <a:buNone/>
            </a:pPr>
            <a:r>
              <a:rPr b="1" i="0" lang="en-US" sz="880" u="none" cap="none" strike="noStrike">
                <a:solidFill>
                  <a:srgbClr val="F59E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FILA BAIXA</a:t>
            </a:r>
            <a:endParaRPr b="0" i="0" sz="8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050792" y="4873752"/>
            <a:ext cx="14173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570"/>
              <a:buFont typeface="Quattrocento Sans"/>
              <a:buNone/>
            </a:pPr>
            <a:r>
              <a:rPr b="0" i="0" lang="en-US" sz="57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 esgotar quantum</a:t>
            </a:r>
            <a:endParaRPr b="0" i="0" sz="57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5486400" y="4005072"/>
            <a:ext cx="1828800" cy="256032"/>
          </a:xfrm>
          <a:prstGeom prst="roundRect">
            <a:avLst>
              <a:gd fmla="val 25000" name="adj"/>
            </a:avLst>
          </a:prstGeom>
          <a:solidFill>
            <a:srgbClr val="2A1B0A">
              <a:alpha val="96078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5559552" y="4069080"/>
            <a:ext cx="1682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670"/>
              <a:buFont typeface="Quattrocento Sans"/>
              <a:buNone/>
            </a:pPr>
            <a:r>
              <a:rPr b="1" i="0" lang="en-US" sz="670" u="none" cap="none" strike="noStrike">
                <a:solidFill>
                  <a:srgbClr val="F59E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feedback: rebaixamento</a:t>
            </a:r>
            <a:endParaRPr b="0" i="0" sz="67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1097280" y="5074920"/>
            <a:ext cx="9738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EE8"/>
              </a:buClr>
              <a:buSzPts val="660"/>
              <a:buFont typeface="Quattrocento Sans"/>
              <a:buNone/>
            </a:pPr>
            <a:r>
              <a:rPr b="0" i="0" lang="en-US" sz="66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A fila ALTA sempre tem preferência sobre a fila BAIXA.</a:t>
            </a:r>
            <a:br>
              <a:rPr b="0" i="0" lang="en-US" sz="66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66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Cada processo ocupa a CPU por no máximo um quantum.</a:t>
            </a:r>
            <a:br>
              <a:rPr b="0" i="0" lang="en-US" sz="66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66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Se não finalizar e não pedir I/O, volta para BAIXA.</a:t>
            </a:r>
            <a:br>
              <a:rPr b="0" i="0" lang="en-US" sz="66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66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Se pedir I/O, fica BLOQUEADO e retorna conforme o dispositivo.</a:t>
            </a:r>
            <a:endParaRPr b="0" i="0" sz="66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57200" y="6437376"/>
            <a:ext cx="11247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2667D"/>
              </a:buClr>
              <a:buSzPts val="610"/>
              <a:buFont typeface="Quattrocento Sans"/>
              <a:buNone/>
            </a:pPr>
            <a:r>
              <a:rPr b="0" i="0" lang="en-US" sz="610" u="none" cap="none" strike="noStrike">
                <a:solidFill>
                  <a:srgbClr val="52667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github.com/JKrabbee/sisop-round-robin</a:t>
            </a:r>
            <a:endParaRPr b="0" i="0" sz="6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x_extract/ppt/media/image1.png" id="135" name="Google Shape;13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7"/>
          <p:cNvSpPr/>
          <p:nvPr/>
        </p:nvSpPr>
        <p:spPr>
          <a:xfrm>
            <a:off x="310896" y="393192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920"/>
              <a:buFont typeface="Quattrocento Sans"/>
              <a:buNone/>
            </a:pPr>
            <a:r>
              <a:rPr b="0" i="0" lang="en-US" sz="192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Algoritmo: parâmetros definidos no código</a:t>
            </a:r>
            <a:endParaRPr b="0" i="0" sz="19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37" name="Google Shape;137;p7"/>
          <p:cNvCxnSpPr/>
          <p:nvPr/>
        </p:nvCxnSpPr>
        <p:spPr>
          <a:xfrm>
            <a:off x="310896" y="832104"/>
            <a:ext cx="10927080" cy="0"/>
          </a:xfrm>
          <a:prstGeom prst="straightConnector1">
            <a:avLst/>
          </a:prstGeom>
          <a:noFill/>
          <a:ln cap="flat" cmpd="sng" w="11425">
            <a:solidFill>
              <a:srgbClr val="1A2B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7"/>
          <p:cNvSpPr/>
          <p:nvPr/>
        </p:nvSpPr>
        <p:spPr>
          <a:xfrm>
            <a:off x="329184" y="960120"/>
            <a:ext cx="7680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configuração deixa a simulação pequena, reprodutível e fácil de acompanhar.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8321040" y="411480"/>
            <a:ext cx="1828800" cy="274320"/>
          </a:xfrm>
          <a:prstGeom prst="roundRect">
            <a:avLst>
              <a:gd fmla="val 23333" name="adj"/>
            </a:avLst>
          </a:prstGeom>
          <a:solidFill>
            <a:srgbClr val="081525">
              <a:alpha val="96078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8394192" y="475488"/>
            <a:ext cx="16824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670"/>
              <a:buFont typeface="Quattrocento Sans"/>
              <a:buNone/>
            </a:pPr>
            <a:r>
              <a:rPr b="1" i="0" lang="en-US" sz="67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ALGORITMO</a:t>
            </a:r>
            <a:endParaRPr b="0" i="0" sz="67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0287000" y="411480"/>
            <a:ext cx="1417320" cy="274320"/>
          </a:xfrm>
          <a:prstGeom prst="roundRect">
            <a:avLst>
              <a:gd fmla="val 23333" name="adj"/>
            </a:avLst>
          </a:prstGeom>
          <a:solidFill>
            <a:srgbClr val="081525">
              <a:alpha val="96078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10360152" y="475488"/>
            <a:ext cx="12710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670"/>
              <a:buFont typeface="Quattrocento Sans"/>
              <a:buNone/>
            </a:pPr>
            <a:r>
              <a:rPr b="1" i="0" lang="en-US" sz="670" u="none" cap="none" strike="noStrike">
                <a:solidFill>
                  <a:srgbClr val="FBBF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 MIN</a:t>
            </a:r>
            <a:endParaRPr b="0" i="0" sz="67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685800" y="1417320"/>
            <a:ext cx="4343400" cy="4434840"/>
          </a:xfrm>
          <a:prstGeom prst="roundRect">
            <a:avLst>
              <a:gd fmla="val 1158" name="adj"/>
            </a:avLst>
          </a:prstGeom>
          <a:solidFill>
            <a:srgbClr val="0B1324">
              <a:alpha val="94117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960120" y="1719072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180"/>
              <a:buFont typeface="Quattrocento Sans"/>
              <a:buNone/>
            </a:pPr>
            <a:r>
              <a:rPr b="1" i="0" lang="en-US" sz="118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Premissas do nosso simulador</a:t>
            </a:r>
            <a:endParaRPr b="0" i="0" sz="11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987552" y="2267712"/>
            <a:ext cx="365760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EE8"/>
              </a:buClr>
              <a:buSzPts val="740"/>
              <a:buFont typeface="Quattrocento Sans"/>
              <a:buNone/>
            </a:pPr>
            <a:r>
              <a:rPr b="0" i="0" lang="en-US" sz="74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5 processos gerados automaticamente;</a:t>
            </a:r>
            <a:br>
              <a:rPr b="0" i="0" lang="en-US" sz="74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74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seed = 42 para repetir a mesma simulação;</a:t>
            </a:r>
            <a:br>
              <a:rPr b="0" i="0" lang="en-US" sz="74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74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quantum = 3 unidades de tempo;</a:t>
            </a:r>
            <a:br>
              <a:rPr b="0" i="0" lang="en-US" sz="74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74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CPU sorteada entre 4 e 12 unidades;</a:t>
            </a:r>
            <a:br>
              <a:rPr b="0" i="0" lang="en-US" sz="74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74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tempos fixos para DISCO, FITA e IMPRESSORA;</a:t>
            </a:r>
            <a:br>
              <a:rPr b="0" i="0" lang="en-US" sz="74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74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cada processo pode ter no máximo um evento de I/O.</a:t>
            </a:r>
            <a:endParaRPr b="0" i="0" sz="74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005840" y="4526280"/>
            <a:ext cx="1024128" cy="530352"/>
          </a:xfrm>
          <a:prstGeom prst="roundRect">
            <a:avLst>
              <a:gd fmla="val 9483" name="adj"/>
            </a:avLst>
          </a:prstGeom>
          <a:solidFill>
            <a:srgbClr val="09182A">
              <a:alpha val="94117"/>
            </a:srgbClr>
          </a:solidFill>
          <a:ln cap="flat" cmpd="sng" w="9525">
            <a:solidFill>
              <a:srgbClr val="1D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1069848" y="4608576"/>
            <a:ext cx="8961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FBBF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3u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1069848" y="4837176"/>
            <a:ext cx="896112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48397"/>
              </a:buClr>
              <a:buSzPts val="550"/>
              <a:buFont typeface="Quattrocento Sans"/>
              <a:buNone/>
            </a:pPr>
            <a:r>
              <a:rPr b="0" i="0" lang="en-US" sz="550" u="none" cap="none" strike="noStrike">
                <a:solidFill>
                  <a:srgbClr val="74839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quantum</a:t>
            </a:r>
            <a:endParaRPr b="0" i="0" sz="5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2212848" y="4526280"/>
            <a:ext cx="1024128" cy="530352"/>
          </a:xfrm>
          <a:prstGeom prst="roundRect">
            <a:avLst>
              <a:gd fmla="val 9483" name="adj"/>
            </a:avLst>
          </a:prstGeom>
          <a:solidFill>
            <a:srgbClr val="09182A">
              <a:alpha val="94117"/>
            </a:srgbClr>
          </a:solidFill>
          <a:ln cap="flat" cmpd="sng" w="9525">
            <a:solidFill>
              <a:srgbClr val="1D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2276856" y="4608576"/>
            <a:ext cx="8961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42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2276856" y="4837176"/>
            <a:ext cx="896112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48397"/>
              </a:buClr>
              <a:buSzPts val="550"/>
              <a:buFont typeface="Quattrocento Sans"/>
              <a:buNone/>
            </a:pPr>
            <a:r>
              <a:rPr b="0" i="0" lang="en-US" sz="550" u="none" cap="none" strike="noStrike">
                <a:solidFill>
                  <a:srgbClr val="74839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seed</a:t>
            </a:r>
            <a:endParaRPr b="0" i="0" sz="5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3429000" y="4526280"/>
            <a:ext cx="1024128" cy="530352"/>
          </a:xfrm>
          <a:prstGeom prst="roundRect">
            <a:avLst>
              <a:gd fmla="val 9483" name="adj"/>
            </a:avLst>
          </a:prstGeom>
          <a:solidFill>
            <a:srgbClr val="09182A">
              <a:alpha val="94117"/>
            </a:srgbClr>
          </a:solidFill>
          <a:ln cap="flat" cmpd="sng" w="9525">
            <a:solidFill>
              <a:srgbClr val="1D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3493008" y="4608576"/>
            <a:ext cx="8961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2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3493008" y="4837176"/>
            <a:ext cx="896112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48397"/>
              </a:buClr>
              <a:buSzPts val="550"/>
              <a:buFont typeface="Quattrocento Sans"/>
              <a:buNone/>
            </a:pPr>
            <a:r>
              <a:rPr b="0" i="0" lang="en-US" sz="550" u="none" cap="none" strike="noStrike">
                <a:solidFill>
                  <a:srgbClr val="74839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processos</a:t>
            </a:r>
            <a:endParaRPr b="0" i="0" sz="5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486400" y="1289304"/>
            <a:ext cx="5897880" cy="4709160"/>
          </a:xfrm>
          <a:prstGeom prst="roundRect">
            <a:avLst>
              <a:gd fmla="val 1068" name="adj"/>
            </a:avLst>
          </a:prstGeom>
          <a:solidFill>
            <a:srgbClr val="000000"/>
          </a:solidFill>
          <a:ln cap="flat" cmpd="sng" w="9525">
            <a:solidFill>
              <a:srgbClr val="1D3A5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configs_gerais_do_sistema(2).png" id="156" name="Google Shape;15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4812" y="1335024"/>
            <a:ext cx="5101056" cy="461772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/>
          <p:nvPr/>
        </p:nvSpPr>
        <p:spPr>
          <a:xfrm>
            <a:off x="457200" y="6437376"/>
            <a:ext cx="11247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2667D"/>
              </a:buClr>
              <a:buSzPts val="610"/>
              <a:buFont typeface="Quattrocento Sans"/>
              <a:buNone/>
            </a:pPr>
            <a:r>
              <a:rPr b="0" i="0" lang="en-US" sz="610" u="none" cap="none" strike="noStrike">
                <a:solidFill>
                  <a:srgbClr val="52667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github.com/JKrabbee/sisop-round-robin</a:t>
            </a:r>
            <a:endParaRPr b="0" i="0" sz="6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x_extract/ppt/media/image1.png" id="163" name="Google Shape;16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8"/>
          <p:cNvSpPr/>
          <p:nvPr/>
        </p:nvSpPr>
        <p:spPr>
          <a:xfrm>
            <a:off x="310896" y="393192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920"/>
              <a:buFont typeface="Quattrocento Sans"/>
              <a:buNone/>
            </a:pPr>
            <a:r>
              <a:rPr b="0" i="0" lang="en-US" sz="192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Algoritmo: feedback e I/O</a:t>
            </a:r>
            <a:endParaRPr b="0" i="0" sz="19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65" name="Google Shape;165;p8"/>
          <p:cNvCxnSpPr/>
          <p:nvPr/>
        </p:nvCxnSpPr>
        <p:spPr>
          <a:xfrm>
            <a:off x="310896" y="832104"/>
            <a:ext cx="10927080" cy="0"/>
          </a:xfrm>
          <a:prstGeom prst="straightConnector1">
            <a:avLst/>
          </a:prstGeom>
          <a:noFill/>
          <a:ln cap="flat" cmpd="sng" w="11425">
            <a:solidFill>
              <a:srgbClr val="1A2B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8"/>
          <p:cNvSpPr/>
          <p:nvPr/>
        </p:nvSpPr>
        <p:spPr>
          <a:xfrm>
            <a:off x="329184" y="960120"/>
            <a:ext cx="7680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 filas representam o comportamento do processo após CPU ou bloqueio.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8321040" y="411480"/>
            <a:ext cx="1828800" cy="274320"/>
          </a:xfrm>
          <a:prstGeom prst="roundRect">
            <a:avLst>
              <a:gd fmla="val 23333" name="adj"/>
            </a:avLst>
          </a:prstGeom>
          <a:solidFill>
            <a:srgbClr val="081525">
              <a:alpha val="96078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8394192" y="475488"/>
            <a:ext cx="16824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670"/>
              <a:buFont typeface="Quattrocento Sans"/>
              <a:buNone/>
            </a:pPr>
            <a:r>
              <a:rPr b="1" i="0" lang="en-US" sz="67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ALGORITMO</a:t>
            </a:r>
            <a:endParaRPr b="0" i="0" sz="67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0287000" y="411480"/>
            <a:ext cx="1417320" cy="274320"/>
          </a:xfrm>
          <a:prstGeom prst="roundRect">
            <a:avLst>
              <a:gd fmla="val 23333" name="adj"/>
            </a:avLst>
          </a:prstGeom>
          <a:solidFill>
            <a:srgbClr val="081525">
              <a:alpha val="96078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10360152" y="475488"/>
            <a:ext cx="12710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670"/>
              <a:buFont typeface="Quattrocento Sans"/>
              <a:buNone/>
            </a:pPr>
            <a:r>
              <a:rPr b="1" i="0" lang="en-US" sz="670" u="none" cap="none" strike="noStrike">
                <a:solidFill>
                  <a:srgbClr val="FBBF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 MIN</a:t>
            </a:r>
            <a:endParaRPr b="0" i="0" sz="67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67512" y="1435608"/>
            <a:ext cx="5532120" cy="4315968"/>
          </a:xfrm>
          <a:prstGeom prst="roundRect">
            <a:avLst>
              <a:gd fmla="val 1165" name="adj"/>
            </a:avLst>
          </a:prstGeom>
          <a:solidFill>
            <a:srgbClr val="000000"/>
          </a:solidFill>
          <a:ln cap="flat" cmpd="sng" w="9525">
            <a:solidFill>
              <a:srgbClr val="1D3A5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inicializacao_das_filas(2).png" id="172" name="Google Shape;17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697" y="1481328"/>
            <a:ext cx="5433751" cy="422452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8"/>
          <p:cNvSpPr/>
          <p:nvPr/>
        </p:nvSpPr>
        <p:spPr>
          <a:xfrm>
            <a:off x="6537960" y="1481328"/>
            <a:ext cx="4709160" cy="4224528"/>
          </a:xfrm>
          <a:prstGeom prst="roundRect">
            <a:avLst>
              <a:gd fmla="val 1190" name="adj"/>
            </a:avLst>
          </a:prstGeom>
          <a:solidFill>
            <a:srgbClr val="0B1324">
              <a:alpha val="94117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6839712" y="1755648"/>
            <a:ext cx="4069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150"/>
              <a:buFont typeface="Quattrocento Sans"/>
              <a:buNone/>
            </a:pPr>
            <a:r>
              <a:rPr b="1" i="0" lang="en-US" sz="115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Regras que guiam o destino</a:t>
            </a:r>
            <a:endParaRPr b="0" i="0" sz="11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6858000" y="2212848"/>
            <a:ext cx="15087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30"/>
              <a:buFont typeface="Quattrocento Sans"/>
              <a:buNone/>
            </a:pPr>
            <a:r>
              <a:rPr b="1" i="0" lang="en-US" sz="73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Processo novo</a:t>
            </a:r>
            <a:endParaRPr b="0" i="0" sz="73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76" name="Google Shape;176;p8"/>
          <p:cNvCxnSpPr/>
          <p:nvPr/>
        </p:nvCxnSpPr>
        <p:spPr>
          <a:xfrm>
            <a:off x="8522208" y="2286000"/>
            <a:ext cx="384048" cy="0"/>
          </a:xfrm>
          <a:prstGeom prst="straightConnector1">
            <a:avLst/>
          </a:prstGeom>
          <a:noFill/>
          <a:ln cap="flat" cmpd="sng" w="10150">
            <a:solidFill>
              <a:srgbClr val="2E4D7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7" name="Google Shape;177;p8"/>
          <p:cNvSpPr/>
          <p:nvPr/>
        </p:nvSpPr>
        <p:spPr>
          <a:xfrm>
            <a:off x="9034272" y="2212848"/>
            <a:ext cx="17373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730"/>
              <a:buFont typeface="Quattrocento Sans"/>
              <a:buNone/>
            </a:pPr>
            <a:r>
              <a:rPr b="1" i="0" lang="en-US" sz="730" u="none" cap="none" strike="noStrike">
                <a:solidFill>
                  <a:srgbClr val="22C5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entra na fila ALTA</a:t>
            </a:r>
            <a:endParaRPr b="0" i="0" sz="73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6858000" y="2715768"/>
            <a:ext cx="15087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30"/>
              <a:buFont typeface="Quattrocento Sans"/>
              <a:buNone/>
            </a:pPr>
            <a:r>
              <a:rPr b="1" i="0" lang="en-US" sz="73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Fim de quantum</a:t>
            </a:r>
            <a:endParaRPr b="0" i="0" sz="73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79" name="Google Shape;179;p8"/>
          <p:cNvCxnSpPr/>
          <p:nvPr/>
        </p:nvCxnSpPr>
        <p:spPr>
          <a:xfrm>
            <a:off x="8522208" y="2788920"/>
            <a:ext cx="384048" cy="0"/>
          </a:xfrm>
          <a:prstGeom prst="straightConnector1">
            <a:avLst/>
          </a:prstGeom>
          <a:noFill/>
          <a:ln cap="flat" cmpd="sng" w="10150">
            <a:solidFill>
              <a:srgbClr val="2E4D7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0" name="Google Shape;180;p8"/>
          <p:cNvSpPr/>
          <p:nvPr/>
        </p:nvSpPr>
        <p:spPr>
          <a:xfrm>
            <a:off x="9034272" y="2715768"/>
            <a:ext cx="17373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30"/>
              <a:buFont typeface="Quattrocento Sans"/>
              <a:buNone/>
            </a:pPr>
            <a:r>
              <a:rPr b="1" i="0" lang="en-US" sz="730" u="none" cap="none" strike="noStrike">
                <a:solidFill>
                  <a:srgbClr val="F59E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volta para BAIXA</a:t>
            </a:r>
            <a:endParaRPr b="0" i="0" sz="73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6858000" y="3218688"/>
            <a:ext cx="15087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30"/>
              <a:buFont typeface="Quattrocento Sans"/>
              <a:buNone/>
            </a:pPr>
            <a:r>
              <a:rPr b="1" i="0" lang="en-US" sz="73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DISCO</a:t>
            </a:r>
            <a:endParaRPr b="0" i="0" sz="73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82" name="Google Shape;182;p8"/>
          <p:cNvCxnSpPr/>
          <p:nvPr/>
        </p:nvCxnSpPr>
        <p:spPr>
          <a:xfrm>
            <a:off x="8522208" y="3291840"/>
            <a:ext cx="384048" cy="0"/>
          </a:xfrm>
          <a:prstGeom prst="straightConnector1">
            <a:avLst/>
          </a:prstGeom>
          <a:noFill/>
          <a:ln cap="flat" cmpd="sng" w="10150">
            <a:solidFill>
              <a:srgbClr val="2E4D7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3" name="Google Shape;183;p8"/>
          <p:cNvSpPr/>
          <p:nvPr/>
        </p:nvSpPr>
        <p:spPr>
          <a:xfrm>
            <a:off x="9034272" y="3218688"/>
            <a:ext cx="17373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30"/>
              <a:buFont typeface="Quattrocento Sans"/>
              <a:buNone/>
            </a:pPr>
            <a:r>
              <a:rPr b="1" i="0" lang="en-US" sz="730" u="none" cap="none" strike="noStrike">
                <a:solidFill>
                  <a:srgbClr val="F59E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retorna para BAIXA</a:t>
            </a:r>
            <a:endParaRPr b="0" i="0" sz="73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6858000" y="3721608"/>
            <a:ext cx="15087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30"/>
              <a:buFont typeface="Quattrocento Sans"/>
              <a:buNone/>
            </a:pPr>
            <a:r>
              <a:rPr b="1" i="0" lang="en-US" sz="73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FITA</a:t>
            </a:r>
            <a:endParaRPr b="0" i="0" sz="73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85" name="Google Shape;185;p8"/>
          <p:cNvCxnSpPr/>
          <p:nvPr/>
        </p:nvCxnSpPr>
        <p:spPr>
          <a:xfrm>
            <a:off x="8522208" y="3794760"/>
            <a:ext cx="384048" cy="0"/>
          </a:xfrm>
          <a:prstGeom prst="straightConnector1">
            <a:avLst/>
          </a:prstGeom>
          <a:noFill/>
          <a:ln cap="flat" cmpd="sng" w="10150">
            <a:solidFill>
              <a:srgbClr val="2E4D7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6" name="Google Shape;186;p8"/>
          <p:cNvSpPr/>
          <p:nvPr/>
        </p:nvSpPr>
        <p:spPr>
          <a:xfrm>
            <a:off x="9034272" y="3721608"/>
            <a:ext cx="17373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730"/>
              <a:buFont typeface="Quattrocento Sans"/>
              <a:buNone/>
            </a:pPr>
            <a:r>
              <a:rPr b="1" i="0" lang="en-US" sz="730" u="none" cap="none" strike="noStrike">
                <a:solidFill>
                  <a:srgbClr val="22C5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retorna para ALTA</a:t>
            </a:r>
            <a:endParaRPr b="0" i="0" sz="73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6858000" y="4224528"/>
            <a:ext cx="15087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30"/>
              <a:buFont typeface="Quattrocento Sans"/>
              <a:buNone/>
            </a:pPr>
            <a:r>
              <a:rPr b="1" i="0" lang="en-US" sz="73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IMPRESSORA</a:t>
            </a:r>
            <a:endParaRPr b="0" i="0" sz="73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88" name="Google Shape;188;p8"/>
          <p:cNvCxnSpPr/>
          <p:nvPr/>
        </p:nvCxnSpPr>
        <p:spPr>
          <a:xfrm>
            <a:off x="8522208" y="4297680"/>
            <a:ext cx="384048" cy="0"/>
          </a:xfrm>
          <a:prstGeom prst="straightConnector1">
            <a:avLst/>
          </a:prstGeom>
          <a:noFill/>
          <a:ln cap="flat" cmpd="sng" w="10150">
            <a:solidFill>
              <a:srgbClr val="2E4D7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9" name="Google Shape;189;p8"/>
          <p:cNvSpPr/>
          <p:nvPr/>
        </p:nvSpPr>
        <p:spPr>
          <a:xfrm>
            <a:off x="9034272" y="4224528"/>
            <a:ext cx="17373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730"/>
              <a:buFont typeface="Quattrocento Sans"/>
              <a:buNone/>
            </a:pPr>
            <a:r>
              <a:rPr b="1" i="0" lang="en-US" sz="730" u="none" cap="none" strike="noStrike">
                <a:solidFill>
                  <a:srgbClr val="22C5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retorna para ALTA</a:t>
            </a:r>
            <a:endParaRPr b="0" i="0" sz="73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6858000" y="4892040"/>
            <a:ext cx="3977640" cy="457200"/>
          </a:xfrm>
          <a:prstGeom prst="roundRect">
            <a:avLst>
              <a:gd fmla="val 11000" name="adj"/>
            </a:avLst>
          </a:prstGeom>
          <a:solidFill>
            <a:srgbClr val="081525">
              <a:alpha val="94117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7059168" y="5047488"/>
            <a:ext cx="3566160" cy="118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570"/>
              <a:buFont typeface="Quattrocento Sans"/>
              <a:buNone/>
            </a:pPr>
            <a:r>
              <a:rPr b="0" i="0" lang="en-US" sz="57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Premissa declarada: a fila de I/O é única, mas os tempos de bloqueio são descontados em paralelo para simplificar a simulação.</a:t>
            </a:r>
            <a:endParaRPr b="0" i="0" sz="57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57200" y="6437376"/>
            <a:ext cx="11247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2667D"/>
              </a:buClr>
              <a:buSzPts val="610"/>
              <a:buFont typeface="Quattrocento Sans"/>
              <a:buNone/>
            </a:pPr>
            <a:r>
              <a:rPr b="0" i="0" lang="en-US" sz="610" u="none" cap="none" strike="noStrike">
                <a:solidFill>
                  <a:srgbClr val="52667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github.com/JKrabbee/sisop-round-robin</a:t>
            </a:r>
            <a:endParaRPr b="0" i="0" sz="6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2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x_extract/ppt/media/image1.png" id="198" name="Google Shape;19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9"/>
          <p:cNvSpPr/>
          <p:nvPr/>
        </p:nvSpPr>
        <p:spPr>
          <a:xfrm>
            <a:off x="310896" y="393192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920"/>
              <a:buFont typeface="Quattrocento Sans"/>
              <a:buNone/>
            </a:pPr>
            <a:r>
              <a:rPr b="0" i="0" lang="en-US" sz="192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Implementação: PCB do processo</a:t>
            </a:r>
            <a:endParaRPr b="0" i="0" sz="19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00" name="Google Shape;200;p9"/>
          <p:cNvCxnSpPr/>
          <p:nvPr/>
        </p:nvCxnSpPr>
        <p:spPr>
          <a:xfrm>
            <a:off x="310896" y="832104"/>
            <a:ext cx="10927080" cy="0"/>
          </a:xfrm>
          <a:prstGeom prst="straightConnector1">
            <a:avLst/>
          </a:prstGeom>
          <a:noFill/>
          <a:ln cap="flat" cmpd="sng" w="11425">
            <a:solidFill>
              <a:srgbClr val="1A2B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9"/>
          <p:cNvSpPr/>
          <p:nvPr/>
        </p:nvSpPr>
        <p:spPr>
          <a:xfrm>
            <a:off x="329184" y="960120"/>
            <a:ext cx="7680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PCB, estruturas de dados e fluxo.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8321040" y="411480"/>
            <a:ext cx="1828800" cy="274320"/>
          </a:xfrm>
          <a:prstGeom prst="roundRect">
            <a:avLst>
              <a:gd fmla="val 23333" name="adj"/>
            </a:avLst>
          </a:prstGeom>
          <a:solidFill>
            <a:srgbClr val="081525">
              <a:alpha val="96078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8394192" y="475488"/>
            <a:ext cx="16824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670"/>
              <a:buFont typeface="Quattrocento Sans"/>
              <a:buNone/>
            </a:pPr>
            <a:r>
              <a:rPr b="1" i="0" lang="en-US" sz="67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IMPLEMENTAÇÃO</a:t>
            </a:r>
            <a:endParaRPr b="0" i="0" sz="67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10287000" y="411480"/>
            <a:ext cx="1417320" cy="274320"/>
          </a:xfrm>
          <a:prstGeom prst="roundRect">
            <a:avLst>
              <a:gd fmla="val 23333" name="adj"/>
            </a:avLst>
          </a:prstGeom>
          <a:solidFill>
            <a:srgbClr val="081525">
              <a:alpha val="96078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10360152" y="475488"/>
            <a:ext cx="12710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670"/>
              <a:buFont typeface="Quattrocento Sans"/>
              <a:buNone/>
            </a:pPr>
            <a:r>
              <a:rPr b="1" i="0" lang="en-US" sz="670" u="none" cap="none" strike="noStrike">
                <a:solidFill>
                  <a:srgbClr val="FBBF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 MIN</a:t>
            </a:r>
            <a:endParaRPr b="0" i="0" sz="67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685800" y="1417320"/>
            <a:ext cx="4434840" cy="4498848"/>
          </a:xfrm>
          <a:prstGeom prst="roundRect">
            <a:avLst>
              <a:gd fmla="val 1134" name="adj"/>
            </a:avLst>
          </a:prstGeom>
          <a:solidFill>
            <a:srgbClr val="0B1324">
              <a:alpha val="94117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960120" y="1719072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180"/>
              <a:buFont typeface="Quattrocento Sans"/>
              <a:buNone/>
            </a:pPr>
            <a:r>
              <a:rPr b="1" i="0" lang="en-US" sz="118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Como representamos o processo</a:t>
            </a:r>
            <a:endParaRPr b="0" i="0" sz="11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960120" y="2194560"/>
            <a:ext cx="3749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EE8"/>
              </a:buClr>
              <a:buSzPts val="770"/>
              <a:buFont typeface="Quattrocento Sans"/>
              <a:buNone/>
            </a:pPr>
            <a:r>
              <a:rPr b="0" i="0" lang="en-US" sz="77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Para respeitar a proposta de evitar uma modelagem OO complexa, cada PCB foi implementado como um dicionário Python. Assim, cada processo carrega tudo que o escalonador precisa para tomar decisões.</a:t>
            </a:r>
            <a:endParaRPr b="0" i="0" sz="77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987552" y="3273552"/>
            <a:ext cx="37490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EE8"/>
              </a:buClr>
              <a:buSzPts val="710"/>
              <a:buFont typeface="Quattrocento Sans"/>
              <a:buNone/>
            </a:pPr>
            <a:r>
              <a:rPr b="0" i="0" lang="en-US" sz="71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pid e ppid identificam o processo;</a:t>
            </a:r>
            <a:br>
              <a:rPr b="0" i="0" lang="en-US" sz="71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71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status registra o estado atual;</a:t>
            </a:r>
            <a:br>
              <a:rPr b="0" i="0" lang="en-US" sz="71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71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prioridade indica a fila de pronto;</a:t>
            </a:r>
            <a:br>
              <a:rPr b="0" i="0" lang="en-US" sz="71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71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tempo_restante controla a CPU;</a:t>
            </a:r>
            <a:br>
              <a:rPr b="0" i="0" lang="en-US" sz="71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71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prox_io, tempo_io e ja_fez_io controlam bloqueio;</a:t>
            </a:r>
            <a:br>
              <a:rPr b="0" i="0" lang="en-US" sz="71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71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preempcoes ajuda nas métricas finais.</a:t>
            </a:r>
            <a:endParaRPr b="0" i="0" sz="7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5577840" y="1161288"/>
            <a:ext cx="5532120" cy="4983480"/>
          </a:xfrm>
          <a:prstGeom prst="roundRect">
            <a:avLst>
              <a:gd fmla="val 1009" name="adj"/>
            </a:avLst>
          </a:prstGeom>
          <a:solidFill>
            <a:srgbClr val="000000"/>
          </a:solidFill>
          <a:ln cap="flat" cmpd="sng" w="9525">
            <a:solidFill>
              <a:srgbClr val="1D3A5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estrutura_do_pcb(2).png" id="211" name="Google Shape;21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1046" y="1207008"/>
            <a:ext cx="3525709" cy="489204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9"/>
          <p:cNvSpPr/>
          <p:nvPr/>
        </p:nvSpPr>
        <p:spPr>
          <a:xfrm>
            <a:off x="457200" y="6437376"/>
            <a:ext cx="11247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2667D"/>
              </a:buClr>
              <a:buSzPts val="610"/>
              <a:buFont typeface="Quattrocento Sans"/>
              <a:buNone/>
            </a:pPr>
            <a:r>
              <a:rPr b="0" i="0" lang="en-US" sz="610" u="none" cap="none" strike="noStrike">
                <a:solidFill>
                  <a:srgbClr val="52667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github.com/JKrabbee/sisop-round-robin</a:t>
            </a:r>
            <a:endParaRPr b="0" i="0" sz="6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2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x_extract/ppt/media/image1.png" id="218" name="Google Shape;21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0"/>
          <p:cNvSpPr/>
          <p:nvPr/>
        </p:nvSpPr>
        <p:spPr>
          <a:xfrm>
            <a:off x="310896" y="393192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920"/>
              <a:buFont typeface="Quattrocento Sans"/>
              <a:buNone/>
            </a:pPr>
            <a:r>
              <a:rPr b="0" i="0" lang="en-US" sz="192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Implementação: filas e métricas</a:t>
            </a:r>
            <a:endParaRPr b="0" i="0" sz="19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20" name="Google Shape;220;p10"/>
          <p:cNvCxnSpPr/>
          <p:nvPr/>
        </p:nvCxnSpPr>
        <p:spPr>
          <a:xfrm>
            <a:off x="310896" y="832104"/>
            <a:ext cx="10927080" cy="0"/>
          </a:xfrm>
          <a:prstGeom prst="straightConnector1">
            <a:avLst/>
          </a:prstGeom>
          <a:noFill/>
          <a:ln cap="flat" cmpd="sng" w="11425">
            <a:solidFill>
              <a:srgbClr val="1A2B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10"/>
          <p:cNvSpPr/>
          <p:nvPr/>
        </p:nvSpPr>
        <p:spPr>
          <a:xfrm>
            <a:off x="329184" y="960120"/>
            <a:ext cx="7680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 estruturas ficam separadas para deixar o comportamento do escalonador visível.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8321040" y="411480"/>
            <a:ext cx="1828800" cy="274320"/>
          </a:xfrm>
          <a:prstGeom prst="roundRect">
            <a:avLst>
              <a:gd fmla="val 23333" name="adj"/>
            </a:avLst>
          </a:prstGeom>
          <a:solidFill>
            <a:srgbClr val="081525">
              <a:alpha val="96078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8394192" y="475488"/>
            <a:ext cx="16824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670"/>
              <a:buFont typeface="Quattrocento Sans"/>
              <a:buNone/>
            </a:pPr>
            <a:r>
              <a:rPr b="1" i="0" lang="en-US" sz="67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IMPLEMENTAÇÃO</a:t>
            </a:r>
            <a:endParaRPr b="0" i="0" sz="67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10287000" y="411480"/>
            <a:ext cx="1417320" cy="274320"/>
          </a:xfrm>
          <a:prstGeom prst="roundRect">
            <a:avLst>
              <a:gd fmla="val 23333" name="adj"/>
            </a:avLst>
          </a:prstGeom>
          <a:solidFill>
            <a:srgbClr val="081525">
              <a:alpha val="96078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10360152" y="475488"/>
            <a:ext cx="12710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670"/>
              <a:buFont typeface="Quattrocento Sans"/>
              <a:buNone/>
            </a:pPr>
            <a:r>
              <a:rPr b="1" i="0" lang="en-US" sz="670" u="none" cap="none" strike="noStrike">
                <a:solidFill>
                  <a:srgbClr val="FBBF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 MIN</a:t>
            </a:r>
            <a:endParaRPr b="0" i="0" sz="67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685800" y="1417320"/>
            <a:ext cx="5120640" cy="4434840"/>
          </a:xfrm>
          <a:prstGeom prst="roundRect">
            <a:avLst>
              <a:gd fmla="val 1134" name="adj"/>
            </a:avLst>
          </a:prstGeom>
          <a:solidFill>
            <a:srgbClr val="0B1324">
              <a:alpha val="94117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960120" y="1719072"/>
            <a:ext cx="4480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180"/>
              <a:buFont typeface="Quattrocento Sans"/>
              <a:buNone/>
            </a:pPr>
            <a:r>
              <a:rPr b="1" i="0" lang="en-US" sz="118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Estruturas usadas no script</a:t>
            </a:r>
            <a:endParaRPr b="0" i="0" sz="11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1005840" y="2157984"/>
            <a:ext cx="1325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740"/>
              <a:buFont typeface="Quattrocento Sans"/>
              <a:buNone/>
            </a:pPr>
            <a:r>
              <a:rPr b="1" i="0" lang="en-US" sz="74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fila_alta</a:t>
            </a:r>
            <a:endParaRPr b="0" i="0" sz="74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2423160" y="2157984"/>
            <a:ext cx="29260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EE8"/>
              </a:buClr>
              <a:buSzPts val="720"/>
              <a:buFont typeface="Quattrocento Sans"/>
              <a:buNone/>
            </a:pPr>
            <a:r>
              <a:rPr b="0" i="0" lang="en-US" sz="72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processos prontos com prioridade alta</a:t>
            </a:r>
            <a:endParaRPr b="0" i="0" sz="7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1005840" y="2633472"/>
            <a:ext cx="1325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740"/>
              <a:buFont typeface="Quattrocento Sans"/>
              <a:buNone/>
            </a:pPr>
            <a:r>
              <a:rPr b="1" i="0" lang="en-US" sz="74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fila_baixa</a:t>
            </a:r>
            <a:endParaRPr b="0" i="0" sz="74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2423160" y="2633472"/>
            <a:ext cx="29260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EE8"/>
              </a:buClr>
              <a:buSzPts val="720"/>
              <a:buFont typeface="Quattrocento Sans"/>
              <a:buNone/>
            </a:pPr>
            <a:r>
              <a:rPr b="0" i="0" lang="en-US" sz="72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processos prontos rebaixados</a:t>
            </a:r>
            <a:endParaRPr b="0" i="0" sz="7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1005840" y="3108960"/>
            <a:ext cx="1325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740"/>
              <a:buFont typeface="Quattrocento Sans"/>
              <a:buNone/>
            </a:pPr>
            <a:r>
              <a:rPr b="1" i="0" lang="en-US" sz="74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fila_io</a:t>
            </a:r>
            <a:endParaRPr b="0" i="0" sz="74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2423160" y="3108960"/>
            <a:ext cx="29260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EE8"/>
              </a:buClr>
              <a:buSzPts val="720"/>
              <a:buFont typeface="Quattrocento Sans"/>
              <a:buNone/>
            </a:pPr>
            <a:r>
              <a:rPr b="0" i="0" lang="en-US" sz="72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processos bloqueados aguardando dispositivo</a:t>
            </a:r>
            <a:endParaRPr b="0" i="0" sz="7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1005840" y="3584448"/>
            <a:ext cx="1325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740"/>
              <a:buFont typeface="Quattrocento Sans"/>
              <a:buNone/>
            </a:pPr>
            <a:r>
              <a:rPr b="1" i="0" lang="en-US" sz="74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finalizados</a:t>
            </a:r>
            <a:endParaRPr b="0" i="0" sz="74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2423160" y="3584448"/>
            <a:ext cx="29260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EE8"/>
              </a:buClr>
              <a:buSzPts val="720"/>
              <a:buFont typeface="Quattrocento Sans"/>
              <a:buNone/>
            </a:pPr>
            <a:r>
              <a:rPr b="0" i="0" lang="en-US" sz="72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processos que encerraram a CPU</a:t>
            </a:r>
            <a:endParaRPr b="0" i="0" sz="7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1005840" y="4059936"/>
            <a:ext cx="1325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740"/>
              <a:buFont typeface="Quattrocento Sans"/>
              <a:buNone/>
            </a:pPr>
            <a:r>
              <a:rPr b="1" i="0" lang="en-US" sz="74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eventos_io</a:t>
            </a:r>
            <a:endParaRPr b="0" i="0" sz="74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2423160" y="4059936"/>
            <a:ext cx="29260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EE8"/>
              </a:buClr>
              <a:buSzPts val="720"/>
              <a:buFont typeface="Quattrocento Sans"/>
              <a:buNone/>
            </a:pPr>
            <a:r>
              <a:rPr b="0" i="0" lang="en-US" sz="72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contagem por DISCO, FITA e IMPRESSORA</a:t>
            </a:r>
            <a:endParaRPr b="0" i="0" sz="7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1005840" y="4535424"/>
            <a:ext cx="1325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740"/>
              <a:buFont typeface="Quattrocento Sans"/>
              <a:buNone/>
            </a:pPr>
            <a:r>
              <a:rPr b="1" i="0" lang="en-US" sz="74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cpu_ociosa</a:t>
            </a:r>
            <a:endParaRPr b="0" i="0" sz="74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2423160" y="4535424"/>
            <a:ext cx="29260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EE8"/>
              </a:buClr>
              <a:buSzPts val="720"/>
              <a:buFont typeface="Quattrocento Sans"/>
              <a:buNone/>
            </a:pPr>
            <a:r>
              <a:rPr b="0" i="0" lang="en-US" sz="72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tempo em que não havia processo pronto</a:t>
            </a:r>
            <a:endParaRPr b="0" i="0" sz="7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960120" y="5239512"/>
            <a:ext cx="4434840" cy="320040"/>
          </a:xfrm>
          <a:prstGeom prst="roundRect">
            <a:avLst>
              <a:gd fmla="val 15714" name="adj"/>
            </a:avLst>
          </a:prstGeom>
          <a:solidFill>
            <a:srgbClr val="081525">
              <a:alpha val="94117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1115568" y="5358384"/>
            <a:ext cx="411480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580"/>
              <a:buFont typeface="Quattrocento Sans"/>
              <a:buNone/>
            </a:pPr>
            <a:r>
              <a:rPr b="0" i="0" lang="en-US" sz="58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Escolha do grupo: usar listas simples para deixar a simulação fácil de defender oralmente.</a:t>
            </a:r>
            <a:endParaRPr b="0" i="0" sz="5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6309360" y="1362456"/>
            <a:ext cx="4846320" cy="4617720"/>
          </a:xfrm>
          <a:prstGeom prst="roundRect">
            <a:avLst>
              <a:gd fmla="val 1089" name="adj"/>
            </a:avLst>
          </a:prstGeom>
          <a:solidFill>
            <a:srgbClr val="000000"/>
          </a:solidFill>
          <a:ln cap="flat" cmpd="sng" w="9525">
            <a:solidFill>
              <a:srgbClr val="1D3A5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inicializacao_das_filas(2).png" id="243" name="Google Shape;24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080" y="1822950"/>
            <a:ext cx="4754880" cy="369673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0"/>
          <p:cNvSpPr/>
          <p:nvPr/>
        </p:nvSpPr>
        <p:spPr>
          <a:xfrm>
            <a:off x="457200" y="6437376"/>
            <a:ext cx="11247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2667D"/>
              </a:buClr>
              <a:buSzPts val="610"/>
              <a:buFont typeface="Quattrocento Sans"/>
              <a:buNone/>
            </a:pPr>
            <a:r>
              <a:rPr b="0" i="0" lang="en-US" sz="610" u="none" cap="none" strike="noStrike">
                <a:solidFill>
                  <a:srgbClr val="52667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github.com/JKrabbee/sisop-round-robin</a:t>
            </a:r>
            <a:endParaRPr b="0" i="0" sz="6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x_extract/ppt/media/image1.png" id="250" name="Google Shape;25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/>
          <p:cNvSpPr/>
          <p:nvPr/>
        </p:nvSpPr>
        <p:spPr>
          <a:xfrm>
            <a:off x="310896" y="393192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920"/>
              <a:buFont typeface="Quattrocento Sans"/>
              <a:buNone/>
            </a:pPr>
            <a:r>
              <a:rPr b="0" i="0" lang="en-US" sz="192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Implementação: loop principal</a:t>
            </a:r>
            <a:endParaRPr b="0" i="0" sz="19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52" name="Google Shape;252;p11"/>
          <p:cNvCxnSpPr/>
          <p:nvPr/>
        </p:nvCxnSpPr>
        <p:spPr>
          <a:xfrm>
            <a:off x="310896" y="832104"/>
            <a:ext cx="10927080" cy="0"/>
          </a:xfrm>
          <a:prstGeom prst="straightConnector1">
            <a:avLst/>
          </a:prstGeom>
          <a:noFill/>
          <a:ln cap="flat" cmpd="sng" w="11425">
            <a:solidFill>
              <a:srgbClr val="1A2B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11"/>
          <p:cNvSpPr/>
          <p:nvPr/>
        </p:nvSpPr>
        <p:spPr>
          <a:xfrm>
            <a:off x="329184" y="960120"/>
            <a:ext cx="7680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clock lógico coordena CPU, I/O e decisões de retorno.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8321040" y="411480"/>
            <a:ext cx="1828800" cy="274320"/>
          </a:xfrm>
          <a:prstGeom prst="roundRect">
            <a:avLst>
              <a:gd fmla="val 23333" name="adj"/>
            </a:avLst>
          </a:prstGeom>
          <a:solidFill>
            <a:srgbClr val="081525">
              <a:alpha val="96078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8394192" y="475488"/>
            <a:ext cx="16824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670"/>
              <a:buFont typeface="Quattrocento Sans"/>
              <a:buNone/>
            </a:pPr>
            <a:r>
              <a:rPr b="1" i="0" lang="en-US" sz="67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IMPLEMENTAÇÃO</a:t>
            </a:r>
            <a:endParaRPr b="0" i="0" sz="67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10287000" y="411480"/>
            <a:ext cx="1417320" cy="274320"/>
          </a:xfrm>
          <a:prstGeom prst="roundRect">
            <a:avLst>
              <a:gd fmla="val 23333" name="adj"/>
            </a:avLst>
          </a:prstGeom>
          <a:solidFill>
            <a:srgbClr val="081525">
              <a:alpha val="96078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10360152" y="475488"/>
            <a:ext cx="12710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670"/>
              <a:buFont typeface="Quattrocento Sans"/>
              <a:buNone/>
            </a:pPr>
            <a:r>
              <a:rPr b="1" i="0" lang="en-US" sz="670" u="none" cap="none" strike="noStrike">
                <a:solidFill>
                  <a:srgbClr val="FBBF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 MIN</a:t>
            </a:r>
            <a:endParaRPr b="0" i="0" sz="67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685800" y="1417320"/>
            <a:ext cx="4297680" cy="4443984"/>
          </a:xfrm>
          <a:prstGeom prst="roundRect">
            <a:avLst>
              <a:gd fmla="val 1170" name="adj"/>
            </a:avLst>
          </a:prstGeom>
          <a:solidFill>
            <a:srgbClr val="0B1324">
              <a:alpha val="94117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960120" y="1719072"/>
            <a:ext cx="3703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160"/>
              <a:buFont typeface="Quattrocento Sans"/>
              <a:buNone/>
            </a:pPr>
            <a:r>
              <a:rPr b="1" i="0" lang="en-US" sz="116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Fluxo em cada unidade de tempo</a:t>
            </a:r>
            <a:endParaRPr b="0" i="0" sz="116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1005840" y="221284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050"/>
              <a:buFont typeface="Quattrocento Sans"/>
              <a:buNone/>
            </a:pPr>
            <a:r>
              <a:rPr b="1" i="0" lang="en-US" sz="105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1417320" y="2212848"/>
            <a:ext cx="1600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50"/>
              <a:buFont typeface="Quattrocento Sans"/>
              <a:buNone/>
            </a:pPr>
            <a:r>
              <a:rPr b="1" i="0" lang="en-US" sz="7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Selecionar processo</a:t>
            </a:r>
            <a:endParaRPr b="0" i="0" sz="7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2971800" y="2212848"/>
            <a:ext cx="1600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640"/>
              <a:buFont typeface="Quattrocento Sans"/>
              <a:buNone/>
            </a:pPr>
            <a:r>
              <a:rPr b="0" i="0" lang="en-US" sz="64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fila ALTA antes da BAIXA</a:t>
            </a:r>
            <a:endParaRPr b="0" i="0" sz="64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1005840" y="2779776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050"/>
              <a:buFont typeface="Quattrocento Sans"/>
              <a:buNone/>
            </a:pPr>
            <a:r>
              <a:rPr b="1" i="0" lang="en-US" sz="105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1417320" y="2779776"/>
            <a:ext cx="1600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50"/>
              <a:buFont typeface="Quattrocento Sans"/>
              <a:buNone/>
            </a:pPr>
            <a:r>
              <a:rPr b="1" i="0" lang="en-US" sz="7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Atualizar I/O</a:t>
            </a:r>
            <a:endParaRPr b="0" i="0" sz="7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2971800" y="2779776"/>
            <a:ext cx="1600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640"/>
              <a:buFont typeface="Quattrocento Sans"/>
              <a:buNone/>
            </a:pPr>
            <a:r>
              <a:rPr b="0" i="0" lang="en-US" sz="64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decrementa bloqueios em paralelo</a:t>
            </a:r>
            <a:endParaRPr b="0" i="0" sz="64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1005840" y="334670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050"/>
              <a:buFont typeface="Quattrocento Sans"/>
              <a:buNone/>
            </a:pPr>
            <a:r>
              <a:rPr b="1" i="0" lang="en-US" sz="105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1417320" y="3346704"/>
            <a:ext cx="1600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50"/>
              <a:buFont typeface="Quattrocento Sans"/>
              <a:buNone/>
            </a:pPr>
            <a:r>
              <a:rPr b="1" i="0" lang="en-US" sz="7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Executar CPU</a:t>
            </a:r>
            <a:endParaRPr b="0" i="0" sz="7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2971800" y="3346704"/>
            <a:ext cx="1600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640"/>
              <a:buFont typeface="Quattrocento Sans"/>
              <a:buNone/>
            </a:pPr>
            <a:r>
              <a:rPr b="0" i="0" lang="en-US" sz="64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reduz tempo restante e quantum</a:t>
            </a:r>
            <a:endParaRPr b="0" i="0" sz="64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1005840" y="3913632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050"/>
              <a:buFont typeface="Quattrocento Sans"/>
              <a:buNone/>
            </a:pPr>
            <a:r>
              <a:rPr b="1" i="0" lang="en-US" sz="105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1417320" y="3913632"/>
            <a:ext cx="1600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50"/>
              <a:buFont typeface="Quattrocento Sans"/>
              <a:buNone/>
            </a:pPr>
            <a:r>
              <a:rPr b="1" i="0" lang="en-US" sz="7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Tomar decisão</a:t>
            </a:r>
            <a:endParaRPr b="0" i="0" sz="7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2971800" y="3913632"/>
            <a:ext cx="1600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640"/>
              <a:buFont typeface="Quattrocento Sans"/>
              <a:buNone/>
            </a:pPr>
            <a:r>
              <a:rPr b="0" i="0" lang="en-US" sz="64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finaliza, bloqueia ou preempta</a:t>
            </a:r>
            <a:endParaRPr b="0" i="0" sz="64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1005840" y="448056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050"/>
              <a:buFont typeface="Quattrocento Sans"/>
              <a:buNone/>
            </a:pPr>
            <a:r>
              <a:rPr b="1" i="0" lang="en-US" sz="105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1417320" y="4480560"/>
            <a:ext cx="1600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50"/>
              <a:buFont typeface="Quattrocento Sans"/>
              <a:buNone/>
            </a:pPr>
            <a:r>
              <a:rPr b="1" i="0" lang="en-US" sz="7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Avançar clock</a:t>
            </a:r>
            <a:endParaRPr b="0" i="0" sz="7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2971800" y="4480560"/>
            <a:ext cx="1600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640"/>
              <a:buFont typeface="Quattrocento Sans"/>
              <a:buNone/>
            </a:pPr>
            <a:r>
              <a:rPr b="0" i="0" lang="en-US" sz="64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registra o próximo instante</a:t>
            </a:r>
            <a:endParaRPr b="0" i="0" sz="64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5486400" y="1143000"/>
            <a:ext cx="5440680" cy="5074920"/>
          </a:xfrm>
          <a:prstGeom prst="roundRect">
            <a:avLst>
              <a:gd fmla="val 991" name="adj"/>
            </a:avLst>
          </a:prstGeom>
          <a:solidFill>
            <a:srgbClr val="000000"/>
          </a:solidFill>
          <a:ln cap="flat" cmpd="sng" w="9525">
            <a:solidFill>
              <a:srgbClr val="1D3A5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loop_principal(2).png" id="276" name="Google Shape;276;p11"/>
          <p:cNvPicPr preferRelativeResize="0"/>
          <p:nvPr/>
        </p:nvPicPr>
        <p:blipFill rotWithShape="1">
          <a:blip r:embed="rId4">
            <a:alphaModFix/>
          </a:blip>
          <a:srcRect b="36000" l="0" r="-872" t="6000"/>
          <a:stretch/>
        </p:blipFill>
        <p:spPr>
          <a:xfrm>
            <a:off x="5532120" y="1188720"/>
            <a:ext cx="5349240" cy="498348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1"/>
          <p:cNvSpPr/>
          <p:nvPr/>
        </p:nvSpPr>
        <p:spPr>
          <a:xfrm>
            <a:off x="457200" y="6437376"/>
            <a:ext cx="11247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2667D"/>
              </a:buClr>
              <a:buSzPts val="610"/>
              <a:buFont typeface="Quattrocento Sans"/>
              <a:buNone/>
            </a:pPr>
            <a:r>
              <a:rPr b="0" i="0" lang="en-US" sz="610" u="none" cap="none" strike="noStrike">
                <a:solidFill>
                  <a:srgbClr val="52667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github.com/JKrabbee/sisop-round-robin</a:t>
            </a:r>
            <a:endParaRPr b="0" i="0" sz="6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2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x_extract/ppt/media/image1.png" id="283" name="Google Shape;28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2"/>
          <p:cNvSpPr/>
          <p:nvPr/>
        </p:nvSpPr>
        <p:spPr>
          <a:xfrm>
            <a:off x="310896" y="393192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920"/>
              <a:buFont typeface="Quattrocento Sans"/>
              <a:buNone/>
            </a:pPr>
            <a:r>
              <a:rPr b="0" i="0" lang="en-US" sz="192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Execução: local e Docker</a:t>
            </a:r>
            <a:endParaRPr b="0" i="0" sz="19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85" name="Google Shape;285;p12"/>
          <p:cNvCxnSpPr/>
          <p:nvPr/>
        </p:nvCxnSpPr>
        <p:spPr>
          <a:xfrm>
            <a:off x="310896" y="832104"/>
            <a:ext cx="10927080" cy="0"/>
          </a:xfrm>
          <a:prstGeom prst="straightConnector1">
            <a:avLst/>
          </a:prstGeom>
          <a:noFill/>
          <a:ln cap="flat" cmpd="sng" w="11425">
            <a:solidFill>
              <a:srgbClr val="1A2B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p12"/>
          <p:cNvSpPr/>
          <p:nvPr/>
        </p:nvSpPr>
        <p:spPr>
          <a:xfrm>
            <a:off x="329184" y="960120"/>
            <a:ext cx="7680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Como o projeto compila/interpreta e executa.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8321040" y="411480"/>
            <a:ext cx="1828800" cy="274320"/>
          </a:xfrm>
          <a:prstGeom prst="roundRect">
            <a:avLst>
              <a:gd fmla="val 23333" name="adj"/>
            </a:avLst>
          </a:prstGeom>
          <a:solidFill>
            <a:srgbClr val="081525">
              <a:alpha val="96078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8394192" y="475488"/>
            <a:ext cx="16824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670"/>
              <a:buFont typeface="Quattrocento Sans"/>
              <a:buNone/>
            </a:pPr>
            <a:r>
              <a:rPr b="1" i="0" lang="en-US" sz="67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EXECUÇÃO</a:t>
            </a:r>
            <a:endParaRPr b="0" i="0" sz="67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10287000" y="411480"/>
            <a:ext cx="1417320" cy="274320"/>
          </a:xfrm>
          <a:prstGeom prst="roundRect">
            <a:avLst>
              <a:gd fmla="val 23333" name="adj"/>
            </a:avLst>
          </a:prstGeom>
          <a:solidFill>
            <a:srgbClr val="081525">
              <a:alpha val="96078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10360152" y="475488"/>
            <a:ext cx="12710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670"/>
              <a:buFont typeface="Quattrocento Sans"/>
              <a:buNone/>
            </a:pPr>
            <a:r>
              <a:rPr b="1" i="0" lang="en-US" sz="670" u="none" cap="none" strike="noStrike">
                <a:solidFill>
                  <a:srgbClr val="FBBF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 MIN</a:t>
            </a:r>
            <a:endParaRPr b="0" i="0" sz="67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731520" y="1417320"/>
            <a:ext cx="5166360" cy="4526280"/>
          </a:xfrm>
          <a:prstGeom prst="roundRect">
            <a:avLst>
              <a:gd fmla="val 1111" name="adj"/>
            </a:avLst>
          </a:prstGeom>
          <a:solidFill>
            <a:srgbClr val="0B1324">
              <a:alpha val="94117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2"/>
          <p:cNvSpPr/>
          <p:nvPr/>
        </p:nvSpPr>
        <p:spPr>
          <a:xfrm>
            <a:off x="1024128" y="1719072"/>
            <a:ext cx="4526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180"/>
              <a:buFont typeface="Quattrocento Sans"/>
              <a:buNone/>
            </a:pPr>
            <a:r>
              <a:rPr b="1" i="0" lang="en-US" sz="118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Execução tradicional</a:t>
            </a:r>
            <a:endParaRPr b="0" i="0" sz="11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1024128" y="2240280"/>
            <a:ext cx="4343400" cy="868680"/>
          </a:xfrm>
          <a:prstGeom prst="roundRect">
            <a:avLst>
              <a:gd fmla="val 4211" name="adj"/>
            </a:avLst>
          </a:prstGeom>
          <a:solidFill>
            <a:srgbClr val="050A12"/>
          </a:solidFill>
          <a:ln cap="flat" cmpd="sng" w="10150">
            <a:solidFill>
              <a:srgbClr val="1D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1170432" y="2368296"/>
            <a:ext cx="4050792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0"/>
              <a:buFont typeface="Courier New"/>
              <a:buNone/>
            </a:pPr>
            <a:r>
              <a:rPr b="0" i="0" lang="en-US" sz="8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python src/main.py</a:t>
            </a:r>
            <a:endParaRPr b="0" i="0" sz="8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0"/>
              <a:buFont typeface="Courier New"/>
              <a:buNone/>
            </a:pPr>
            <a:r>
              <a:rPr b="0" i="0" lang="en-US" sz="8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# ou</a:t>
            </a:r>
            <a:endParaRPr b="0" i="0" sz="8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0"/>
              <a:buFont typeface="Courier New"/>
              <a:buNone/>
            </a:pPr>
            <a:r>
              <a:rPr b="0" i="0" lang="en-US" sz="8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python3 src/main.py</a:t>
            </a:r>
            <a:endParaRPr b="0" i="0" sz="8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1051560" y="3429000"/>
            <a:ext cx="42976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EE8"/>
              </a:buClr>
              <a:buSzPts val="730"/>
              <a:buFont typeface="Quattrocento Sans"/>
              <a:buNone/>
            </a:pPr>
            <a:r>
              <a:rPr b="0" i="0" lang="en-US" sz="73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Python interpreta o script diretamente;</a:t>
            </a:r>
            <a:br>
              <a:rPr b="0" i="0" lang="en-US" sz="73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73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não há bibliotecas externas;</a:t>
            </a:r>
            <a:br>
              <a:rPr b="0" i="0" lang="en-US" sz="73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73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saída formatada aparece no terminal;</a:t>
            </a:r>
            <a:br>
              <a:rPr b="0" i="0" lang="en-US" sz="73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73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a seed fixa facilita a correção.</a:t>
            </a:r>
            <a:endParaRPr b="0" i="0" sz="73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6291072" y="1417320"/>
            <a:ext cx="5166360" cy="4526280"/>
          </a:xfrm>
          <a:prstGeom prst="roundRect">
            <a:avLst>
              <a:gd fmla="val 1111" name="adj"/>
            </a:avLst>
          </a:prstGeom>
          <a:solidFill>
            <a:srgbClr val="0B1324">
              <a:alpha val="94117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6583680" y="1719072"/>
            <a:ext cx="4526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180"/>
              <a:buFont typeface="Quattrocento Sans"/>
              <a:buNone/>
            </a:pPr>
            <a:r>
              <a:rPr b="1" i="0" lang="en-US" sz="118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Bônus Docker</a:t>
            </a:r>
            <a:endParaRPr b="0" i="0" sz="11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6583680" y="2240280"/>
            <a:ext cx="4343400" cy="868680"/>
          </a:xfrm>
          <a:prstGeom prst="roundRect">
            <a:avLst>
              <a:gd fmla="val 4211" name="adj"/>
            </a:avLst>
          </a:prstGeom>
          <a:solidFill>
            <a:srgbClr val="050A12"/>
          </a:solidFill>
          <a:ln cap="flat" cmpd="sng" w="10150">
            <a:solidFill>
              <a:srgbClr val="1D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6729984" y="2368296"/>
            <a:ext cx="4050792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70"/>
              <a:buFont typeface="Courier New"/>
              <a:buNone/>
            </a:pPr>
            <a:r>
              <a:rPr b="0" i="0" lang="en-US" sz="77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docker build -t so-escalonador-grupo-2 .</a:t>
            </a:r>
            <a:endParaRPr b="0" i="0" sz="77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70"/>
              <a:buFont typeface="Courier New"/>
              <a:buNone/>
            </a:pPr>
            <a:r>
              <a:rPr b="0" i="0" lang="en-US" sz="77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docker run --rm so-escalonador-grupo-2</a:t>
            </a:r>
            <a:endParaRPr b="0" i="0" sz="77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6611112" y="3429000"/>
            <a:ext cx="42976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EE8"/>
              </a:buClr>
              <a:buSzPts val="730"/>
              <a:buFont typeface="Quattrocento Sans"/>
              <a:buNone/>
            </a:pPr>
            <a:r>
              <a:rPr b="0" i="0" lang="en-US" sz="73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imagem baseada em Python 3.12-slim;</a:t>
            </a:r>
            <a:br>
              <a:rPr b="0" i="0" lang="en-US" sz="73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73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Dockerfile no repositório;</a:t>
            </a:r>
            <a:br>
              <a:rPr b="0" i="0" lang="en-US" sz="73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73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README com comandos de build e run;</a:t>
            </a:r>
            <a:br>
              <a:rPr b="0" i="0" lang="en-US" sz="73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73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relatório PDF incluído na entrega.</a:t>
            </a:r>
            <a:endParaRPr b="0" i="0" sz="73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1965960" y="5650992"/>
            <a:ext cx="8229600" cy="329184"/>
          </a:xfrm>
          <a:prstGeom prst="roundRect">
            <a:avLst>
              <a:gd fmla="val 15278" name="adj"/>
            </a:avLst>
          </a:prstGeom>
          <a:solidFill>
            <a:srgbClr val="081525">
              <a:alpha val="94117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2194560" y="5769864"/>
            <a:ext cx="777240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620"/>
              <a:buFont typeface="Quattrocento Sans"/>
              <a:buNone/>
            </a:pPr>
            <a:r>
              <a:rPr b="0" i="0" lang="en-US" sz="62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 apresentação, basta clonar o repositório e rodar um dos dois caminhos acima.</a:t>
            </a:r>
            <a:endParaRPr b="0" i="0" sz="6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457200" y="6437376"/>
            <a:ext cx="11247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2667D"/>
              </a:buClr>
              <a:buSzPts val="610"/>
              <a:buFont typeface="Quattrocento Sans"/>
              <a:buNone/>
            </a:pPr>
            <a:r>
              <a:rPr b="0" i="0" lang="en-US" sz="610" u="none" cap="none" strike="noStrike">
                <a:solidFill>
                  <a:srgbClr val="52667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github.com/JKrabbee/sisop-round-robin</a:t>
            </a:r>
            <a:endParaRPr b="0" i="0" sz="6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x_extract/ppt/media/image1.png" id="309" name="Google Shape;30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3"/>
          <p:cNvSpPr/>
          <p:nvPr/>
        </p:nvSpPr>
        <p:spPr>
          <a:xfrm>
            <a:off x="310896" y="393192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920"/>
              <a:buFont typeface="Quattrocento Sans"/>
              <a:buNone/>
            </a:pPr>
            <a:r>
              <a:rPr b="0" i="0" lang="en-US" sz="192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Demonstração: o que mostrar no terminal</a:t>
            </a:r>
            <a:endParaRPr b="0" i="0" sz="19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11" name="Google Shape;311;p13"/>
          <p:cNvCxnSpPr/>
          <p:nvPr/>
        </p:nvCxnSpPr>
        <p:spPr>
          <a:xfrm>
            <a:off x="310896" y="832104"/>
            <a:ext cx="10927080" cy="0"/>
          </a:xfrm>
          <a:prstGeom prst="straightConnector1">
            <a:avLst/>
          </a:prstGeom>
          <a:noFill/>
          <a:ln cap="flat" cmpd="sng" w="11425">
            <a:solidFill>
              <a:srgbClr val="1A2B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" name="Google Shape;312;p13"/>
          <p:cNvSpPr/>
          <p:nvPr/>
        </p:nvSpPr>
        <p:spPr>
          <a:xfrm>
            <a:off x="329184" y="960120"/>
            <a:ext cx="7680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Execução real e explicação da saída.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8321040" y="411480"/>
            <a:ext cx="1828800" cy="274320"/>
          </a:xfrm>
          <a:prstGeom prst="roundRect">
            <a:avLst>
              <a:gd fmla="val 23333" name="adj"/>
            </a:avLst>
          </a:prstGeom>
          <a:solidFill>
            <a:srgbClr val="081525">
              <a:alpha val="96078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3"/>
          <p:cNvSpPr/>
          <p:nvPr/>
        </p:nvSpPr>
        <p:spPr>
          <a:xfrm>
            <a:off x="8394192" y="475488"/>
            <a:ext cx="16824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670"/>
              <a:buFont typeface="Quattrocento Sans"/>
              <a:buNone/>
            </a:pPr>
            <a:r>
              <a:rPr b="1" i="0" lang="en-US" sz="67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DEMONSTRAÇÃO</a:t>
            </a:r>
            <a:endParaRPr b="0" i="0" sz="67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10287000" y="411480"/>
            <a:ext cx="1417320" cy="274320"/>
          </a:xfrm>
          <a:prstGeom prst="roundRect">
            <a:avLst>
              <a:gd fmla="val 23333" name="adj"/>
            </a:avLst>
          </a:prstGeom>
          <a:solidFill>
            <a:srgbClr val="081525">
              <a:alpha val="96078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"/>
          <p:cNvSpPr/>
          <p:nvPr/>
        </p:nvSpPr>
        <p:spPr>
          <a:xfrm>
            <a:off x="10360152" y="475488"/>
            <a:ext cx="12710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670"/>
              <a:buFont typeface="Quattrocento Sans"/>
              <a:buNone/>
            </a:pPr>
            <a:r>
              <a:rPr b="1" i="0" lang="en-US" sz="670" u="none" cap="none" strike="noStrike">
                <a:solidFill>
                  <a:srgbClr val="FBBF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 MIN</a:t>
            </a:r>
            <a:endParaRPr b="0" i="0" sz="67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868680" y="1508760"/>
            <a:ext cx="2971800" cy="1207008"/>
          </a:xfrm>
          <a:prstGeom prst="roundRect">
            <a:avLst>
              <a:gd fmla="val 4167" name="adj"/>
            </a:avLst>
          </a:prstGeom>
          <a:solidFill>
            <a:srgbClr val="0B1324">
              <a:alpha val="94117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"/>
          <p:cNvSpPr/>
          <p:nvPr/>
        </p:nvSpPr>
        <p:spPr>
          <a:xfrm>
            <a:off x="1014984" y="1691640"/>
            <a:ext cx="347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500"/>
              <a:buFont typeface="Quattrocento Sans"/>
              <a:buNone/>
            </a:pPr>
            <a:r>
              <a:rPr b="1" i="0" lang="en-US" sz="150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1490472" y="1737360"/>
            <a:ext cx="2103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9"/>
              <a:buFont typeface="Quattrocento Sans"/>
              <a:buNone/>
            </a:pPr>
            <a:r>
              <a:rPr b="1" i="0" lang="en-US" sz="89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Rodar o projeto</a:t>
            </a:r>
            <a:endParaRPr b="0" i="0" sz="89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1188720" y="2194560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650"/>
              <a:buFont typeface="Quattrocento Sans"/>
              <a:buNone/>
            </a:pPr>
            <a:r>
              <a:rPr b="0" i="0" lang="en-US" sz="65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executar local ou Docker e mostrar a configuração inicial.</a:t>
            </a:r>
            <a:endParaRPr b="0" i="0" sz="6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4544568" y="1508760"/>
            <a:ext cx="2971800" cy="1207008"/>
          </a:xfrm>
          <a:prstGeom prst="roundRect">
            <a:avLst>
              <a:gd fmla="val 4167" name="adj"/>
            </a:avLst>
          </a:prstGeom>
          <a:solidFill>
            <a:srgbClr val="0B1324">
              <a:alpha val="94117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4690872" y="1691640"/>
            <a:ext cx="347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500"/>
              <a:buFont typeface="Quattrocento Sans"/>
              <a:buNone/>
            </a:pPr>
            <a:r>
              <a:rPr b="1" i="0" lang="en-US" sz="150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5166360" y="1737360"/>
            <a:ext cx="2103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9"/>
              <a:buFont typeface="Quattrocento Sans"/>
              <a:buNone/>
            </a:pPr>
            <a:r>
              <a:rPr b="1" i="0" lang="en-US" sz="89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Apontar criação</a:t>
            </a:r>
            <a:endParaRPr b="0" i="0" sz="89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4864608" y="2194560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650"/>
              <a:buFont typeface="Quattrocento Sans"/>
              <a:buNone/>
            </a:pPr>
            <a:r>
              <a:rPr b="0" i="0" lang="en-US" sz="65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processos criados com CPU, I/O e entrada na fila ALTA.</a:t>
            </a:r>
            <a:endParaRPr b="0" i="0" sz="6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8220456" y="1508760"/>
            <a:ext cx="2971800" cy="1207008"/>
          </a:xfrm>
          <a:prstGeom prst="roundRect">
            <a:avLst>
              <a:gd fmla="val 4167" name="adj"/>
            </a:avLst>
          </a:prstGeom>
          <a:solidFill>
            <a:srgbClr val="0B1324">
              <a:alpha val="94117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8366760" y="1691640"/>
            <a:ext cx="347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500"/>
              <a:buFont typeface="Quattrocento Sans"/>
              <a:buNone/>
            </a:pPr>
            <a:r>
              <a:rPr b="1" i="0" lang="en-US" sz="150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8842248" y="1737360"/>
            <a:ext cx="2103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9"/>
              <a:buFont typeface="Quattrocento Sans"/>
              <a:buNone/>
            </a:pPr>
            <a:r>
              <a:rPr b="1" i="0" lang="en-US" sz="89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Mostrar escalonamento</a:t>
            </a:r>
            <a:endParaRPr b="0" i="0" sz="89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8540496" y="2194560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650"/>
              <a:buFont typeface="Quattrocento Sans"/>
              <a:buNone/>
            </a:pPr>
            <a:r>
              <a:rPr b="0" i="0" lang="en-US" sz="65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fila ALTA tem preferência; fila BAIXA recebe preemptados.</a:t>
            </a:r>
            <a:endParaRPr b="0" i="0" sz="6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2267712" y="3429000"/>
            <a:ext cx="3840480" cy="1207008"/>
          </a:xfrm>
          <a:prstGeom prst="roundRect">
            <a:avLst>
              <a:gd fmla="val 4167" name="adj"/>
            </a:avLst>
          </a:prstGeom>
          <a:solidFill>
            <a:srgbClr val="0B1324">
              <a:alpha val="94117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3"/>
          <p:cNvSpPr/>
          <p:nvPr/>
        </p:nvSpPr>
        <p:spPr>
          <a:xfrm>
            <a:off x="2414016" y="3611880"/>
            <a:ext cx="347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500"/>
              <a:buFont typeface="Quattrocento Sans"/>
              <a:buNone/>
            </a:pPr>
            <a:r>
              <a:rPr b="1" i="0" lang="en-US" sz="150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2889504" y="3657600"/>
            <a:ext cx="2971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9"/>
              <a:buFont typeface="Quattrocento Sans"/>
              <a:buNone/>
            </a:pPr>
            <a:r>
              <a:rPr b="1" i="0" lang="en-US" sz="89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Mostrar I/O</a:t>
            </a:r>
            <a:endParaRPr b="0" i="0" sz="89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2587752" y="4114800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650"/>
              <a:buFont typeface="Quattrocento Sans"/>
              <a:buNone/>
            </a:pPr>
            <a:r>
              <a:rPr b="0" i="0" lang="en-US" sz="65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processo bloqueia e retorna para ALTA ou BAIXA.</a:t>
            </a:r>
            <a:endParaRPr b="0" i="0" sz="6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6793992" y="3429000"/>
            <a:ext cx="3840480" cy="1207008"/>
          </a:xfrm>
          <a:prstGeom prst="roundRect">
            <a:avLst>
              <a:gd fmla="val 4167" name="adj"/>
            </a:avLst>
          </a:prstGeom>
          <a:solidFill>
            <a:srgbClr val="0B1324">
              <a:alpha val="94117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3"/>
          <p:cNvSpPr/>
          <p:nvPr/>
        </p:nvSpPr>
        <p:spPr>
          <a:xfrm>
            <a:off x="6940296" y="3611880"/>
            <a:ext cx="347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500"/>
              <a:buFont typeface="Quattrocento Sans"/>
              <a:buNone/>
            </a:pPr>
            <a:r>
              <a:rPr b="1" i="0" lang="en-US" sz="150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7415784" y="3657600"/>
            <a:ext cx="2971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9"/>
              <a:buFont typeface="Quattrocento Sans"/>
              <a:buNone/>
            </a:pPr>
            <a:r>
              <a:rPr b="1" i="0" lang="en-US" sz="89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Fechar métricas</a:t>
            </a:r>
            <a:endParaRPr b="0" i="0" sz="89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7114032" y="4114800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650"/>
              <a:buFont typeface="Quattrocento Sans"/>
              <a:buNone/>
            </a:pPr>
            <a:r>
              <a:rPr b="0" i="0" lang="en-US" sz="65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preempções, I/O, espera, turnaround e CPU ociosa.</a:t>
            </a:r>
            <a:endParaRPr b="0" i="0" sz="6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457200" y="6437376"/>
            <a:ext cx="11247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2667D"/>
              </a:buClr>
              <a:buSzPts val="610"/>
              <a:buFont typeface="Quattrocento Sans"/>
              <a:buNone/>
            </a:pPr>
            <a:r>
              <a:rPr b="0" i="0" lang="en-US" sz="610" u="none" cap="none" strike="noStrike">
                <a:solidFill>
                  <a:srgbClr val="52667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github.com/JKrabbee/sisop-round-robin</a:t>
            </a:r>
            <a:endParaRPr b="0" i="0" sz="6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2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x_extract/ppt/media/image1.png" id="343" name="Google Shape;34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4"/>
          <p:cNvSpPr/>
          <p:nvPr/>
        </p:nvSpPr>
        <p:spPr>
          <a:xfrm>
            <a:off x="310896" y="393192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920"/>
              <a:buFont typeface="Quattrocento Sans"/>
              <a:buNone/>
            </a:pPr>
            <a:r>
              <a:rPr b="0" i="0" lang="en-US" sz="192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Demonstração: leitura do resumo final</a:t>
            </a:r>
            <a:endParaRPr b="0" i="0" sz="192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45" name="Google Shape;345;p14"/>
          <p:cNvCxnSpPr/>
          <p:nvPr/>
        </p:nvCxnSpPr>
        <p:spPr>
          <a:xfrm>
            <a:off x="310896" y="832104"/>
            <a:ext cx="10927080" cy="0"/>
          </a:xfrm>
          <a:prstGeom prst="straightConnector1">
            <a:avLst/>
          </a:prstGeom>
          <a:noFill/>
          <a:ln cap="flat" cmpd="sng" w="11425">
            <a:solidFill>
              <a:srgbClr val="1A2B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6" name="Google Shape;346;p14"/>
          <p:cNvSpPr/>
          <p:nvPr/>
        </p:nvSpPr>
        <p:spPr>
          <a:xfrm>
            <a:off x="329184" y="960120"/>
            <a:ext cx="7680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 métricas provam que a simulação terminou e permitem interpretar o desempenho.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8321040" y="411480"/>
            <a:ext cx="1828800" cy="274320"/>
          </a:xfrm>
          <a:prstGeom prst="roundRect">
            <a:avLst>
              <a:gd fmla="val 23333" name="adj"/>
            </a:avLst>
          </a:prstGeom>
          <a:solidFill>
            <a:srgbClr val="081525">
              <a:alpha val="96078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4"/>
          <p:cNvSpPr/>
          <p:nvPr/>
        </p:nvSpPr>
        <p:spPr>
          <a:xfrm>
            <a:off x="8394192" y="475488"/>
            <a:ext cx="16824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670"/>
              <a:buFont typeface="Quattrocento Sans"/>
              <a:buNone/>
            </a:pPr>
            <a:r>
              <a:rPr b="1" i="0" lang="en-US" sz="67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DEMONSTRAÇÃO</a:t>
            </a:r>
            <a:endParaRPr b="0" i="0" sz="67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10287000" y="411480"/>
            <a:ext cx="1417320" cy="274320"/>
          </a:xfrm>
          <a:prstGeom prst="roundRect">
            <a:avLst>
              <a:gd fmla="val 23333" name="adj"/>
            </a:avLst>
          </a:prstGeom>
          <a:solidFill>
            <a:srgbClr val="081525">
              <a:alpha val="96078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4"/>
          <p:cNvSpPr/>
          <p:nvPr/>
        </p:nvSpPr>
        <p:spPr>
          <a:xfrm>
            <a:off x="10360152" y="475488"/>
            <a:ext cx="12710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670"/>
              <a:buFont typeface="Quattrocento Sans"/>
              <a:buNone/>
            </a:pPr>
            <a:r>
              <a:rPr b="1" i="0" lang="en-US" sz="670" u="none" cap="none" strike="noStrike">
                <a:solidFill>
                  <a:srgbClr val="FBBF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 MIN</a:t>
            </a:r>
            <a:endParaRPr b="0" i="0" sz="67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685800" y="1280160"/>
            <a:ext cx="6492240" cy="4096512"/>
          </a:xfrm>
          <a:prstGeom prst="roundRect">
            <a:avLst>
              <a:gd fmla="val 1228" name="adj"/>
            </a:avLst>
          </a:prstGeom>
          <a:solidFill>
            <a:srgbClr val="000000"/>
          </a:solidFill>
          <a:ln cap="flat" cmpd="sng" w="9525">
            <a:solidFill>
              <a:srgbClr val="1D3A5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resumo final(2).png" id="352" name="Google Shape;35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1334417"/>
            <a:ext cx="6400800" cy="3987998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4"/>
          <p:cNvSpPr/>
          <p:nvPr/>
        </p:nvSpPr>
        <p:spPr>
          <a:xfrm>
            <a:off x="7543800" y="1325880"/>
            <a:ext cx="3794760" cy="4005072"/>
          </a:xfrm>
          <a:prstGeom prst="roundRect">
            <a:avLst>
              <a:gd fmla="val 1325" name="adj"/>
            </a:avLst>
          </a:prstGeom>
          <a:solidFill>
            <a:srgbClr val="0B1324">
              <a:alpha val="94117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4"/>
          <p:cNvSpPr/>
          <p:nvPr/>
        </p:nvSpPr>
        <p:spPr>
          <a:xfrm>
            <a:off x="7818120" y="161848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140"/>
              <a:buFont typeface="Quattrocento Sans"/>
              <a:buNone/>
            </a:pPr>
            <a:r>
              <a:rPr b="1" i="0" lang="en-US" sz="114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Como explicar a saída</a:t>
            </a:r>
            <a:endParaRPr b="0" i="0" sz="114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7845552" y="2148840"/>
            <a:ext cx="31546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EE8"/>
              </a:buClr>
              <a:buSzPts val="710"/>
              <a:buFont typeface="Quattrocento Sans"/>
              <a:buNone/>
            </a:pPr>
            <a:r>
              <a:rPr b="0" i="0" lang="en-US" sz="71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Processos finalizados: confirma o encerramento correto;</a:t>
            </a:r>
            <a:br>
              <a:rPr b="0" i="0" lang="en-US" sz="71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71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Preempções: mostra quantas vezes o quantum foi esgotado;</a:t>
            </a:r>
            <a:br>
              <a:rPr b="0" i="0" lang="en-US" sz="71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71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Eventos de I/O: separa DISCO, FITA e IMPRESSORA;</a:t>
            </a:r>
            <a:br>
              <a:rPr b="0" i="0" lang="en-US" sz="71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71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CPU ociosa: indica tempo sem processo pronto;</a:t>
            </a:r>
            <a:br>
              <a:rPr b="0" i="0" lang="en-US" sz="71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710" u="none" cap="none" strike="noStrike">
                <a:solidFill>
                  <a:srgbClr val="D7DE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Tempo médio de espera e turnaround: resumem o comportamento geral.</a:t>
            </a:r>
            <a:endParaRPr b="0" i="0" sz="7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7845552" y="4361688"/>
            <a:ext cx="3154680" cy="502920"/>
          </a:xfrm>
          <a:prstGeom prst="roundRect">
            <a:avLst>
              <a:gd fmla="val 10000" name="adj"/>
            </a:avLst>
          </a:prstGeom>
          <a:solidFill>
            <a:srgbClr val="081525">
              <a:alpha val="94117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8010144" y="4517136"/>
            <a:ext cx="28346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580"/>
              <a:buFont typeface="Quattrocento Sans"/>
              <a:buNone/>
            </a:pPr>
            <a:r>
              <a:rPr b="0" i="0" lang="en-US" sz="58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Fechamento da demonstração: conectar as métricas aos conceitos de SO vistos no trabalho.</a:t>
            </a:r>
            <a:endParaRPr b="0" i="0" sz="5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457200" y="6437376"/>
            <a:ext cx="11247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2667D"/>
              </a:buClr>
              <a:buSzPts val="610"/>
              <a:buFont typeface="Quattrocento Sans"/>
              <a:buNone/>
            </a:pPr>
            <a:r>
              <a:rPr b="0" i="0" lang="en-US" sz="610" u="none" cap="none" strike="noStrike">
                <a:solidFill>
                  <a:srgbClr val="52667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github.com/JKrabbee/sisop-round-robin</a:t>
            </a:r>
            <a:endParaRPr b="0" i="0" sz="6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2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x_extract/ppt/media/image5.png" id="364" name="Google Shape;36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5"/>
          <p:cNvSpPr/>
          <p:nvPr/>
        </p:nvSpPr>
        <p:spPr>
          <a:xfrm>
            <a:off x="1234440" y="1051560"/>
            <a:ext cx="9692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3000"/>
              <a:buFont typeface="Quattrocento Sans"/>
              <a:buNone/>
            </a:pPr>
            <a:r>
              <a:rPr b="0" i="0" lang="en-US" sz="300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Fechamento</a:t>
            </a:r>
            <a:endParaRPr b="0" i="0" sz="3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2011680" y="1700784"/>
            <a:ext cx="8138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950"/>
              <a:buFont typeface="Quattrocento Sans"/>
              <a:buNone/>
            </a:pPr>
            <a:r>
              <a:rPr b="0" i="0" lang="en-US" sz="95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que o grupo conseguiu demonstrar</a:t>
            </a:r>
            <a:endParaRPr b="0" i="0" sz="9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1097280" y="2606040"/>
            <a:ext cx="4434840" cy="786384"/>
          </a:xfrm>
          <a:prstGeom prst="roundRect">
            <a:avLst>
              <a:gd fmla="val 6395" name="adj"/>
            </a:avLst>
          </a:prstGeom>
          <a:solidFill>
            <a:srgbClr val="0B1324">
              <a:alpha val="94117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5"/>
          <p:cNvSpPr/>
          <p:nvPr/>
        </p:nvSpPr>
        <p:spPr>
          <a:xfrm>
            <a:off x="1325880" y="2761488"/>
            <a:ext cx="3977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60"/>
              <a:buFont typeface="Quattrocento Sans"/>
              <a:buNone/>
            </a:pPr>
            <a:r>
              <a:rPr b="1" i="0" lang="en-US" sz="96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Escalonamento</a:t>
            </a:r>
            <a:endParaRPr b="0" i="0" sz="96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1417320" y="3063240"/>
            <a:ext cx="379476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660"/>
              <a:buFont typeface="Quattrocento Sans"/>
              <a:buNone/>
            </a:pPr>
            <a:r>
              <a:rPr b="0" i="0" lang="en-US" sz="66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Round Robin com quantum e preempção.</a:t>
            </a:r>
            <a:endParaRPr b="0" i="0" sz="66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6172200" y="2606040"/>
            <a:ext cx="4434840" cy="786384"/>
          </a:xfrm>
          <a:prstGeom prst="roundRect">
            <a:avLst>
              <a:gd fmla="val 6395" name="adj"/>
            </a:avLst>
          </a:prstGeom>
          <a:solidFill>
            <a:srgbClr val="0B1324">
              <a:alpha val="94117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6400800" y="2761488"/>
            <a:ext cx="3977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60"/>
              <a:buFont typeface="Quattrocento Sans"/>
              <a:buNone/>
            </a:pPr>
            <a:r>
              <a:rPr b="1" i="0" lang="en-US" sz="96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Feedback</a:t>
            </a:r>
            <a:endParaRPr b="0" i="0" sz="96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6492240" y="3063240"/>
            <a:ext cx="379476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660"/>
              <a:buFont typeface="Quattrocento Sans"/>
              <a:buNone/>
            </a:pPr>
            <a:r>
              <a:rPr b="0" i="0" lang="en-US" sz="66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rebaixamento para fila baixa e retorno por I/O.</a:t>
            </a:r>
            <a:endParaRPr b="0" i="0" sz="66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1097280" y="3749040"/>
            <a:ext cx="4434840" cy="786384"/>
          </a:xfrm>
          <a:prstGeom prst="roundRect">
            <a:avLst>
              <a:gd fmla="val 6395" name="adj"/>
            </a:avLst>
          </a:prstGeom>
          <a:solidFill>
            <a:srgbClr val="0B1324">
              <a:alpha val="94117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5"/>
          <p:cNvSpPr/>
          <p:nvPr/>
        </p:nvSpPr>
        <p:spPr>
          <a:xfrm>
            <a:off x="1325880" y="3904488"/>
            <a:ext cx="3977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60"/>
              <a:buFont typeface="Quattrocento Sans"/>
              <a:buNone/>
            </a:pPr>
            <a:r>
              <a:rPr b="1" i="0" lang="en-US" sz="96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Estados de processo</a:t>
            </a:r>
            <a:endParaRPr b="0" i="0" sz="96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1417320" y="4206240"/>
            <a:ext cx="379476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660"/>
              <a:buFont typeface="Quattrocento Sans"/>
              <a:buNone/>
            </a:pPr>
            <a:r>
              <a:rPr b="0" i="0" lang="en-US" sz="66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NOVO, PRONTO, EXECUTANDO, BLOQUEADO e FINALIZADO.</a:t>
            </a:r>
            <a:endParaRPr b="0" i="0" sz="66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6172200" y="3749040"/>
            <a:ext cx="4434840" cy="786384"/>
          </a:xfrm>
          <a:prstGeom prst="roundRect">
            <a:avLst>
              <a:gd fmla="val 6395" name="adj"/>
            </a:avLst>
          </a:prstGeom>
          <a:solidFill>
            <a:srgbClr val="0B1324">
              <a:alpha val="94117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6400800" y="3904488"/>
            <a:ext cx="3977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60"/>
              <a:buFont typeface="Quattrocento Sans"/>
              <a:buNone/>
            </a:pPr>
            <a:r>
              <a:rPr b="1" i="0" lang="en-US" sz="96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Entrega</a:t>
            </a:r>
            <a:endParaRPr b="0" i="0" sz="96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6492240" y="4206240"/>
            <a:ext cx="379476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8BA"/>
              </a:buClr>
              <a:buSzPts val="660"/>
              <a:buFont typeface="Quattrocento Sans"/>
              <a:buNone/>
            </a:pPr>
            <a:r>
              <a:rPr b="0" i="0" lang="en-US" sz="660" u="none" cap="none" strike="noStrike">
                <a:solidFill>
                  <a:srgbClr val="9AA8B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README, relatório, execução local e Docker bônus.</a:t>
            </a:r>
            <a:endParaRPr b="0" i="0" sz="66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2926080" y="5577840"/>
            <a:ext cx="6309360" cy="420624"/>
          </a:xfrm>
          <a:prstGeom prst="roundRect">
            <a:avLst>
              <a:gd fmla="val 11957" name="adj"/>
            </a:avLst>
          </a:prstGeom>
          <a:solidFill>
            <a:srgbClr val="081525">
              <a:alpha val="94117"/>
            </a:srgbClr>
          </a:solidFill>
          <a:ln cap="flat" cmpd="sng" w="9525">
            <a:solidFill>
              <a:srgbClr val="17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5"/>
          <p:cNvSpPr/>
          <p:nvPr/>
        </p:nvSpPr>
        <p:spPr>
          <a:xfrm>
            <a:off x="3291840" y="5696712"/>
            <a:ext cx="5577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C7FF"/>
              </a:buClr>
              <a:buSzPts val="1080"/>
              <a:buFont typeface="Quattrocento Sans"/>
              <a:buNone/>
            </a:pPr>
            <a:r>
              <a:rPr b="1" i="0" lang="en-US" sz="1080" u="none" cap="none" strike="noStrike">
                <a:solidFill>
                  <a:srgbClr val="19C7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Perguntas?</a:t>
            </a:r>
            <a:endParaRPr b="0" i="0" sz="108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457200" y="6437376"/>
            <a:ext cx="11247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2667D"/>
              </a:buClr>
              <a:buSzPts val="610"/>
              <a:buFont typeface="Quattrocento Sans"/>
              <a:buNone/>
            </a:pPr>
            <a:r>
              <a:rPr b="0" i="0" lang="en-US" sz="610" u="none" cap="none" strike="noStrike">
                <a:solidFill>
                  <a:srgbClr val="52667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Fonte: instruções do trabalho + projeto do grupo</a:t>
            </a:r>
            <a:endParaRPr b="0" i="0" sz="61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